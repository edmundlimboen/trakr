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 20 seconds</a:t>
            </a:r>
          </a:p>
          <a:p/>
          <a:p>
            <a:r>
              <a:t>A camera leaves the equipment room. Later, a teacher needs to know who has it, what condition it was in, and whether it came back. Trakr connects those moments through an NFC tap, a school account, and a shared record. This is our native mobile MVP and the pilot we propose next.</a:t>
            </a:r>
          </a:p>
          <a:p/>
          <a:p>
            <a:r>
              <a:t>Evidence: Basis: README.md • native MVP; pilot outcomes not yet measured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0:20–0:55 · 35 seconds</a:t>
            </a:r>
          </a:p>
          <a:p/>
          <a:p>
            <a:r>
              <a:t>Imagine a student borrowing a camera and tripod before a project. A paper log, spreadsheet or chat can capture a name, but keeping the physical handover, condition report and return together takes discipline. Missing context means follow-up work: who should the teacher ask, was the fault already there, and is the item actually back? Our hypothesis is that recording these facts at the handover reduces chasing and uncertainty. We still need to measure the scale of that problem with teachers.</a:t>
            </a:r>
          </a:p>
          <a:p/>
          <a:p>
            <a:r>
              <a:t>Evidence: Problem hypothesis to validate through teacher interviews and baseline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0:55–1:30 · 35 seconds</a:t>
            </a:r>
          </a:p>
          <a:p/>
          <a:p>
            <a:r>
              <a:t>Students need a quick way to borrow several items and see their own receipt. Teachers need to enroll equipment, see active claimants, process returns and resolve reported issues. An equipment lead needs oversight across inventory and outstanding activity. Trakr connects those needs with student and teacher mobile workflows plus an operations dashboard. The first target is a single school equipment room, where one teacher can help us observe the whole process before we attempt a broader rollout.</a:t>
            </a:r>
          </a:p>
          <a:p/>
          <a:p>
            <a:r>
              <a:t>Evidence: Implemented workflows: README.md • Trakr/Features • dashboard/README.md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1:30–2:10 · 40 seconds</a:t>
            </a:r>
          </a:p>
          <a:p/>
          <a:p>
            <a:r>
              <a:t>The student signs in with an approved school account and scans both tags. Each item enters a staging list, so accidental scans can be removed. Before confirmation, the student acknowledges condition and adds details for any issue, such as a loose camera strap. Confirmation creates the checkout record and receipt. Later, a teacher scans the returned equipment, reviews active claims and confirms the return. The issue has its own open, acknowledged and resolved lifecycle, so returning an item does not automatically mean its fault has been fixed.</a:t>
            </a:r>
          </a:p>
          <a:p/>
          <a:p>
            <a:r>
              <a:t>Evidence: Sources: CheckoutView.swift • ReturnView.swift • Domain.swift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2:10–2:50 · 40 seconds</a:t>
            </a:r>
          </a:p>
          <a:p/>
          <a:p>
            <a:r>
              <a:t>Here is the data flow. The NFC tag contains a Trakr identifier, which the phone resolves to an equipment record. Google sign-in provides identity; Firebase Security Rules use verified school email claims to enforce access. On confirmation, the mobile client submits a batch containing the checkout record, individual claims and any issues. Those writes commit together or fail together. A teacher later submits the return batch. The web operations dashboard uses a separate privileged Worker path, with its own authentication and audit events. NFC identifies equipment; it is not proof against tag copying.</a:t>
            </a:r>
          </a:p>
          <a:p/>
          <a:p>
            <a:r>
              <a:t>Evidence: Sources: NFCService.swift • FirebaseGateway.swift • firebase/firestore.rules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2:50–3:25 · 35 seconds</a:t>
            </a:r>
          </a:p>
          <a:p/>
          <a:p>
            <a:r>
              <a:t>Three engineering decisions matter. First, access is enforced at the database boundary, not just by hiding buttons; students should only see their own claims and issues. Second, the app preserves staged items when offline and blocks confirmation instead of pretending a checkout has succeeded. Third, equipment identity survives tag replacement, preserving claim history. The repository includes tests for these behaviours and repeated operations. Physical NFC, school sign-in and cross-device behaviour still need device validation. We distinguish implemented safeguards from a proven production deployment.</a:t>
            </a:r>
          </a:p>
          <a:p/>
          <a:p>
            <a:r>
              <a:t>Evidence: Evidence: docs/mvp-verification.md • TrakrTests • firebase/functions/test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3:25–4:00 · 35 seconds</a:t>
            </a:r>
          </a:p>
          <a:p/>
          <a:p>
            <a:r>
              <a:t>We propose a four-week pilot. First, observe the existing process and measure its baseline. Then enroll a small inventory and use Trakr for real handovers. Compare median checkout time and weekly teacher follow-up time, while checking record completeness and reliability. Our proposed targets are a thirty percent reduction in checkout time and ninety-five percent complete handover records. These are targets, not results. We also need zero unauthorized cross-student reads in our test set. If the workflow adds friction or staff do not keep using it, we revise before scaling.</a:t>
            </a:r>
          </a:p>
          <a:p/>
          <a:p>
            <a:r>
              <a:t>Evidence: Proposed experiment • targets are acceptance criteria, not observed results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4:00–4:35 · 35 seconds</a:t>
            </a:r>
          </a:p>
          <a:p/>
          <a:p>
            <a:r>
              <a:t>The proposed buyer is the school or equipment-owning department, while a teacher is the champion. A subscription could fund hosting, support and continued development, with onboarding covering tags and inventory setup. We would first win one room, then expand within the school after showing repeat use and time saved. Today the differentiation is the complete handover workflow, not a proprietary NFC technology. The investor milestone is repeatable adoption and willingness to pay, followed by the multi-school architecture and onboarding process needed to scale. Revenue and pricing remain unvalidated.</a:t>
            </a:r>
          </a:p>
          <a:p/>
          <a:p>
            <a:r>
              <a:t>Evidence: Commercial proposal • no validated pricing, paying customers or market-size claim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4:35–5:00 · 25 seconds</a:t>
            </a:r>
          </a:p>
          <a:p/>
          <a:p>
            <a:r>
              <a:t>Our ask is one equipment room, one teacher sponsor and permission to run a measured pilot. We will return a baseline comparison, reliability findings and an adoption recommendation. Trakr already connects checkout, condition and return in a working software flow. The next question is whether it reliably makes school handovers easier. Let us now show that loop in three minutes.</a:t>
            </a:r>
          </a:p>
          <a:p/>
          <a:p>
            <a:r>
              <a:t>Evidence: Ask: proposed pilot partnership • demo begins at 5:00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5:00–8:00 · 180 seconds</a:t>
            </a:r>
          </a:p>
          <a:p/>
          <a:p>
            <a:r>
              <a:t>0:00–0:20: Introduce the prepared student account and two enrolled items. 0:20–1:00: Scan the camera and tripod; show the staging list. 1:00–1:35: Report a loose strap on the camera, acknowledge condition, confirm and show the receipt. 1:35–2:20: Switch to the prepared teacher session, scan the same items, show the claimant and confirm return. 2:20–2:45: Show the returned record and acknowledge the issue, explaining that repair is a separate action. 2:45–3:00: Close with: one handover, one shared record, a clear next action. Rehearse account switching. Use a dedicated test environment. If physical NFC fails, switch promptly to the prepared local demo and explicitly identify it as simulated. Independent local demos do not demonstrate cross-device synchronization.</a:t>
            </a:r>
          </a:p>
          <a:p/>
          <a:p>
            <a:r>
              <a:t>Evidence: Use prepared demo inventory; local demo proves UI flow, not cross-device sync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only</a:t>
            </a:r>
          </a:p>
          <a:p/>
          <a:p>
            <a:r>
              <a:t>Equipment is the stable identity. A tag points to equipment; tag replacement changes that pointer while existing claims retain their tag-at-checkout reference. A checkout batch groups claims, and each claim belongs to a student and equipment item. An issue references a claim and equipment. A return batch groups claim closures with a teacher identity. Serial guard records support uniqueness. Multiple active claims per equipment item are currently allowed, so do not describe this as an exclusive booking system.</a:t>
            </a:r>
          </a:p>
          <a:p/>
          <a:p>
            <a:r>
              <a:t>Evidence: Sources: Domain.swift • FirebaseGateway.swift • firebase/firestore.rules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only</a:t>
            </a:r>
          </a:p>
          <a:p/>
          <a:p>
            <a:r>
              <a:t>Mobile: Google Authentication supplies verified identity, and Firestore Security Rules govern reads and writes. Staff domains map to teacher access, student subdomains map to student access. Operations: the browser signs in, the Worker validates the identity and session, then accesses Firestore using a server-held service account. That privileged path does not rely on client Security Rules; its own authorization and validation are essential. Ops mutations generate audit events. The shared-secret emergency route is a separate operational risk. Multi-school deployment requires redesigned tenant boundaries; changing branding alone is insufficient.</a:t>
            </a:r>
          </a:p>
          <a:p/>
          <a:p>
            <a:r>
              <a:t>Evidence: Sources: firebase/firestore.rules • dashboard/src/worker/auth.ts • ops.ts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only</a:t>
            </a:r>
          </a:p>
          <a:p/>
          <a:p>
            <a:r>
              <a:t>Overdue status is calculated in-app and alerts are in-app, not guaranteed push delivery. An internet connection is required to confirm. NFC read/write still needs physical device proof, and school Google Workspace access requires validation. The current role model is school-specific. Multiple claims are allowed, and the return workflow closes the active claims it loads; concurrency deserves pilot testing. Demo accounts have deliberately relaxed write rules and share collections with school accounts in the documented setup. Use a dedicated demo environment and disable demo access before public launch. Do not claim GPS location, theft prevention, exclusive reservations or commercial traction.</a:t>
            </a:r>
          </a:p>
          <a:p/>
          <a:p>
            <a:r>
              <a:t>Evidence: Sources: docs/production-integration.md • docs/mvp-verification.md • README.md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only</a:t>
            </a:r>
          </a:p>
          <a:p/>
          <a:p>
            <a:r>
              <a:t>This is a suggested assessment map, not an official grading rubric. Problem definition is supported by the concrete borrowing scenario, then strengthened with interviews. Design understanding is shown through the user journey, architecture and data relationships. Implementation is demonstrated by the complete checkout-to-return loop. Quality is supported by repository test coverage and explicit device validation gaps. Critical evaluation means explaining the tradeoffs and measuring against a baseline, rather than claiming the project is production-ready. Source traceability and honest status labels let a teacher separate implementation evidence from proposed outcomes.</a:t>
            </a:r>
          </a:p>
          <a:p/>
          <a:p>
            <a:r>
              <a:t>Evidence: Evidence map: docs/mvp-verification.md and source references in speaker notes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only</a:t>
            </a:r>
          </a:p>
          <a:p/>
          <a:p>
            <a:r>
              <a:t>Paper and spreadsheets are familiar and can be sufficient for low-volume borrowing. QR-based workflows are also a credible option; NFC must earn its place through device suitability and observed convenience, rather than an unsupported speed claim. A broad asset platform may be appropriate for institutions that need procurement, depreciation or integrations; those requirements are outside this MVP. Trakr focuses on linking the physical handover, identity, condition, receipt and teacher-confirmed return. We should choose the simplest solution that solves the observed problem. A defensible business would require trusted deployment and repeatable onboarding, not just an NFC tag.</a:t>
            </a:r>
          </a:p>
          <a:p/>
          <a:p>
            <a:r>
              <a:t>Evidence: Analysis of workflow options, not verified competitor capability claims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only</a:t>
            </a:r>
          </a:p>
          <a:p/>
          <a:p>
            <a:r>
              <a:t>Time the same defined task before and during the pilot: beginning the handover through a confirmed record, separating student task time from teacher follow-up. Use comparable item counts and report the number of observations, median and slow cases. Define complete records as having borrower, equipment, checkout time, condition and a teacher-confirmed return when the item is physically returned. Review adoption weekly and interview staff about workarounds. Security tests and failed commits are mandatory checks, not substitutes for usability results. Agree thresholds with the teacher sponsor before the experiment.</a:t>
            </a:r>
          </a:p>
          <a:p/>
          <a:p>
            <a:r>
              <a:t>Evidence: All thresholds below are proposed pilot targets, not achieved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only</a:t>
            </a:r>
          </a:p>
          <a:p/>
          <a:p>
            <a:r>
              <a:t>Illustration only: if a school saves two staff hours each week, values time at thirty Singapore dollars per hour and uses the system for forty weeks, gross time value is two thousand four hundred dollars per school year. This is not cash savings or validated willingness to pay. Net value must account for onboarding, tags, support and hosting; the subscription must leave the buyer better off. Reachable market should be built from named qualified schools and realistic adoption, not a fabricated global TAM. Before commercial expansion, clarify rights for a commercial offering given the repository's noncommercial license, and validate procurement and data requirements. Multi-tenant isolation is future engineering work.</a:t>
            </a:r>
          </a:p>
          <a:p/>
          <a:p>
            <a:r>
              <a:t>Evidence: Illustrative arithmetic only • source license: LICENSE (CC BY-NC 4.0)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only</a:t>
            </a:r>
          </a:p>
          <a:p/>
          <a:p>
            <a:r>
              <a:t>The presentation is grounded in README.md, the domain models, FirebaseGateway, NFCService, Firestore rules and operations dashboard documentation. The verification matrix records repository test coverage and explicitly calls out hardware and school-infrastructure gaps. We did not rerun mobile or backend suites to produce this deck, and we do not claim a new test pass. The next evidence to collect is teacher interviews, baseline handover timings, physical-device results, pilot usage and buyer feedback. Proposed pricing, targets and commercial paths must be updated when real evidence arrives.</a:t>
            </a:r>
          </a:p>
          <a:p/>
          <a:p>
            <a:r>
              <a:t>Evidence: Repository snapshot: 6467a41 • presentation prepared 21 September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01 / THE IDEA</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Equipment accountability. One tap at a time.</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TRAKR / Native iOS + Android / School equipment checkout</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Basis: README.md • native MVP; pilot outcomes not yet measured</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01</a:t>
            </a:r>
          </a:p>
        </p:txBody>
      </p:sp>
      <p:sp>
        <p:nvSpPr>
          <p:cNvPr id="10" name="TextBox 9"/>
          <p:cNvSpPr txBox="1"/>
          <p:nvPr/>
        </p:nvSpPr>
        <p:spPr>
          <a:xfrm>
            <a:off x="571500" y="2641600"/>
            <a:ext cx="7099300" cy="1330960"/>
          </a:xfrm>
          <a:prstGeom prst="rect">
            <a:avLst/>
          </a:prstGeom>
          <a:noFill/>
        </p:spPr>
        <p:txBody>
          <a:bodyPr wrap="none" lIns="0" rIns="0" tIns="0" bIns="0">
            <a:spAutoFit/>
          </a:bodyPr>
          <a:lstStyle/>
          <a:p>
            <a:pPr>
              <a:lnSpc>
                <a:spcPct val="130000"/>
              </a:lnSpc>
              <a:spcBef>
                <a:spcPts val="0"/>
              </a:spcBef>
              <a:spcAft>
                <a:spcPts val="0"/>
              </a:spcAft>
              <a:defRPr sz="3800" b="1">
                <a:solidFill>
                  <a:srgbClr val="F5F3ED"/>
                </a:solidFill>
                <a:latin typeface="DejaVu Sans"/>
              </a:defRPr>
            </a:pPr>
            <a:r>
              <a:t>Know who borrowed it.</a:t>
            </a:r>
          </a:p>
          <a:p>
            <a:pPr>
              <a:lnSpc>
                <a:spcPct val="130000"/>
              </a:lnSpc>
              <a:spcBef>
                <a:spcPts val="0"/>
              </a:spcBef>
              <a:spcAft>
                <a:spcPts val="0"/>
              </a:spcAft>
              <a:defRPr sz="3800" b="1">
                <a:solidFill>
                  <a:srgbClr val="F5F3ED"/>
                </a:solidFill>
                <a:latin typeface="DejaVu Sans"/>
              </a:defRPr>
            </a:pPr>
            <a:r>
              <a:t>Know what came back.</a:t>
            </a:r>
          </a:p>
        </p:txBody>
      </p:sp>
      <p:sp>
        <p:nvSpPr>
          <p:cNvPr id="11" name="TextBox 10"/>
          <p:cNvSpPr txBox="1"/>
          <p:nvPr/>
        </p:nvSpPr>
        <p:spPr>
          <a:xfrm>
            <a:off x="571500" y="4279900"/>
            <a:ext cx="6464300" cy="769620"/>
          </a:xfrm>
          <a:prstGeom prst="rect">
            <a:avLst/>
          </a:prstGeom>
          <a:noFill/>
        </p:spPr>
        <p:txBody>
          <a:bodyPr wrap="none" lIns="0" rIns="0" tIns="0" bIns="0">
            <a:spAutoFit/>
          </a:bodyPr>
          <a:lstStyle/>
          <a:p>
            <a:pPr>
              <a:lnSpc>
                <a:spcPct val="130000"/>
              </a:lnSpc>
              <a:spcBef>
                <a:spcPts val="0"/>
              </a:spcBef>
              <a:spcAft>
                <a:spcPts val="0"/>
              </a:spcAft>
              <a:defRPr sz="2100" b="0">
                <a:solidFill>
                  <a:srgbClr val="BDC6D5"/>
                </a:solidFill>
                <a:latin typeface="DejaVu Sans"/>
              </a:defRPr>
            </a:pPr>
            <a:r>
              <a:t>A complete handover record for shared school</a:t>
            </a:r>
          </a:p>
          <a:p>
            <a:pPr>
              <a:lnSpc>
                <a:spcPct val="130000"/>
              </a:lnSpc>
              <a:spcBef>
                <a:spcPts val="0"/>
              </a:spcBef>
              <a:spcAft>
                <a:spcPts val="0"/>
              </a:spcAft>
              <a:defRPr sz="2100" b="0">
                <a:solidFill>
                  <a:srgbClr val="BDC6D5"/>
                </a:solidFill>
                <a:latin typeface="DejaVu Sans"/>
              </a:defRPr>
            </a:pPr>
            <a:r>
              <a:t>equipment.</a:t>
            </a:r>
          </a:p>
        </p:txBody>
      </p:sp>
      <p:sp>
        <p:nvSpPr>
          <p:cNvPr id="12" name="Rounded Rectangle 11"/>
          <p:cNvSpPr/>
          <p:nvPr/>
        </p:nvSpPr>
        <p:spPr>
          <a:xfrm>
            <a:off x="8445500" y="2425700"/>
            <a:ext cx="3175000" cy="28956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5700" y="2717800"/>
            <a:ext cx="26543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TAP → RECORD</a:t>
            </a:r>
          </a:p>
        </p:txBody>
      </p:sp>
      <p:sp>
        <p:nvSpPr>
          <p:cNvPr id="14" name="TextBox 13"/>
          <p:cNvSpPr txBox="1"/>
          <p:nvPr/>
        </p:nvSpPr>
        <p:spPr>
          <a:xfrm>
            <a:off x="8775700" y="3352800"/>
            <a:ext cx="2590800" cy="1397000"/>
          </a:xfrm>
          <a:prstGeom prst="rect">
            <a:avLst/>
          </a:prstGeom>
          <a:noFill/>
        </p:spPr>
        <p:txBody>
          <a:bodyPr wrap="none" lIns="0" rIns="0" tIns="0" bIns="0">
            <a:spAutoFit/>
          </a:bodyPr>
          <a:lstStyle/>
          <a:p>
            <a:pPr>
              <a:lnSpc>
                <a:spcPct val="130000"/>
              </a:lnSpc>
              <a:spcBef>
                <a:spcPts val="0"/>
              </a:spcBef>
              <a:spcAft>
                <a:spcPts val="0"/>
              </a:spcAft>
              <a:defRPr sz="2000" b="1">
                <a:solidFill>
                  <a:srgbClr val="F5F3ED"/>
                </a:solidFill>
                <a:latin typeface="DejaVu Sans"/>
              </a:defRPr>
            </a:pPr>
            <a:r>
              <a:t>ITEM</a:t>
            </a:r>
          </a:p>
          <a:p>
            <a:pPr>
              <a:lnSpc>
                <a:spcPct val="130000"/>
              </a:lnSpc>
              <a:spcBef>
                <a:spcPts val="0"/>
              </a:spcBef>
              <a:spcAft>
                <a:spcPts val="0"/>
              </a:spcAft>
              <a:defRPr sz="2000" b="1">
                <a:solidFill>
                  <a:srgbClr val="F5F3ED"/>
                </a:solidFill>
                <a:latin typeface="DejaVu Sans"/>
              </a:defRPr>
            </a:pPr>
            <a:r>
              <a:t>BORROWER</a:t>
            </a:r>
          </a:p>
          <a:p>
            <a:pPr>
              <a:lnSpc>
                <a:spcPct val="130000"/>
              </a:lnSpc>
              <a:spcBef>
                <a:spcPts val="0"/>
              </a:spcBef>
              <a:spcAft>
                <a:spcPts val="0"/>
              </a:spcAft>
              <a:defRPr sz="2000" b="1">
                <a:solidFill>
                  <a:srgbClr val="F5F3ED"/>
                </a:solidFill>
                <a:latin typeface="DejaVu Sans"/>
              </a:defRPr>
            </a:pPr>
            <a:r>
              <a:t>CONDITION</a:t>
            </a:r>
          </a:p>
          <a:p>
            <a:pPr>
              <a:lnSpc>
                <a:spcPct val="130000"/>
              </a:lnSpc>
              <a:spcBef>
                <a:spcPts val="0"/>
              </a:spcBef>
              <a:spcAft>
                <a:spcPts val="0"/>
              </a:spcAft>
              <a:defRPr sz="2000" b="1">
                <a:solidFill>
                  <a:srgbClr val="F5F3ED"/>
                </a:solidFill>
                <a:latin typeface="DejaVu Sans"/>
              </a:defRPr>
            </a:pPr>
            <a:r>
              <a:t>RETURN</a:t>
            </a:r>
          </a:p>
        </p:txBody>
      </p:sp>
      <p:sp>
        <p:nvSpPr>
          <p:cNvPr id="15" name="TextBox 14"/>
          <p:cNvSpPr txBox="1"/>
          <p:nvPr/>
        </p:nvSpPr>
        <p:spPr>
          <a:xfrm>
            <a:off x="533400" y="5778500"/>
            <a:ext cx="11176000" cy="356870"/>
          </a:xfrm>
          <a:prstGeom prst="rect">
            <a:avLst/>
          </a:prstGeom>
          <a:noFill/>
        </p:spPr>
        <p:txBody>
          <a:bodyPr wrap="none" lIns="0" rIns="0" tIns="0" bIns="0">
            <a:spAutoFit/>
          </a:bodyPr>
          <a:lstStyle/>
          <a:p>
            <a:pPr>
              <a:lnSpc>
                <a:spcPct val="130000"/>
              </a:lnSpc>
              <a:spcBef>
                <a:spcPts val="0"/>
              </a:spcBef>
              <a:spcAft>
                <a:spcPts val="0"/>
              </a:spcAft>
              <a:defRPr sz="1700" b="1">
                <a:solidFill>
                  <a:srgbClr val="D4F778"/>
                </a:solidFill>
                <a:latin typeface="DejaVu Sans"/>
              </a:defRPr>
            </a:pPr>
            <a:r>
              <a:t>5-minute pitch / 3-minute live demonstration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02 / PROBLEM</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The handover is where context gets lost.</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Illustrative school scenario: a student borrows a camera and tripod.</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Problem hypothesis to validate through teacher interviews and baseline observation</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02</a:t>
            </a:r>
          </a:p>
        </p:txBody>
      </p:sp>
      <p:sp>
        <p:nvSpPr>
          <p:cNvPr id="10" name="Rounded Rectangle 9"/>
          <p:cNvSpPr/>
          <p:nvPr/>
        </p:nvSpPr>
        <p:spPr>
          <a:xfrm>
            <a:off x="508000"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01</a:t>
            </a:r>
          </a:p>
        </p:txBody>
      </p:sp>
      <p:sp>
        <p:nvSpPr>
          <p:cNvPr id="12" name="TextBox 11"/>
          <p:cNvSpPr txBox="1"/>
          <p:nvPr/>
        </p:nvSpPr>
        <p:spPr>
          <a:xfrm>
            <a:off x="762000"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Who has it?</a:t>
            </a:r>
          </a:p>
        </p:txBody>
      </p:sp>
      <p:sp>
        <p:nvSpPr>
          <p:cNvPr id="13" name="TextBox 12"/>
          <p:cNvSpPr txBox="1"/>
          <p:nvPr/>
        </p:nvSpPr>
        <p:spPr>
          <a:xfrm>
            <a:off x="762000" y="3937000"/>
            <a:ext cx="3115733" cy="60452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Borrower details can be</a:t>
            </a:r>
          </a:p>
          <a:p>
            <a:pPr>
              <a:lnSpc>
                <a:spcPct val="130000"/>
              </a:lnSpc>
              <a:spcBef>
                <a:spcPts val="0"/>
              </a:spcBef>
              <a:spcAft>
                <a:spcPts val="0"/>
              </a:spcAft>
              <a:defRPr sz="1600" b="0">
                <a:solidFill>
                  <a:srgbClr val="BDC6D5"/>
                </a:solidFill>
                <a:latin typeface="DejaVu Sans"/>
              </a:defRPr>
            </a:pPr>
            <a:r>
              <a:t>incomplete or scattered.</a:t>
            </a:r>
          </a:p>
        </p:txBody>
      </p:sp>
      <p:sp>
        <p:nvSpPr>
          <p:cNvPr id="14" name="Rounded Rectangle 13"/>
          <p:cNvSpPr/>
          <p:nvPr/>
        </p:nvSpPr>
        <p:spPr>
          <a:xfrm>
            <a:off x="4309533"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3533"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02</a:t>
            </a:r>
          </a:p>
        </p:txBody>
      </p:sp>
      <p:sp>
        <p:nvSpPr>
          <p:cNvPr id="16" name="TextBox 15"/>
          <p:cNvSpPr txBox="1"/>
          <p:nvPr/>
        </p:nvSpPr>
        <p:spPr>
          <a:xfrm>
            <a:off x="4563533"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Was it damaged?</a:t>
            </a:r>
          </a:p>
        </p:txBody>
      </p:sp>
      <p:sp>
        <p:nvSpPr>
          <p:cNvPr id="17" name="TextBox 16"/>
          <p:cNvSpPr txBox="1"/>
          <p:nvPr/>
        </p:nvSpPr>
        <p:spPr>
          <a:xfrm>
            <a:off x="4563533"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Condition needs to be</a:t>
            </a:r>
          </a:p>
          <a:p>
            <a:pPr>
              <a:lnSpc>
                <a:spcPct val="130000"/>
              </a:lnSpc>
              <a:spcBef>
                <a:spcPts val="0"/>
              </a:spcBef>
              <a:spcAft>
                <a:spcPts val="0"/>
              </a:spcAft>
              <a:defRPr sz="1600" b="0">
                <a:solidFill>
                  <a:srgbClr val="BDC6D5"/>
                </a:solidFill>
                <a:latin typeface="DejaVu Sans"/>
              </a:defRPr>
            </a:pPr>
            <a:r>
              <a:t>recorded when custody</a:t>
            </a:r>
          </a:p>
          <a:p>
            <a:pPr>
              <a:lnSpc>
                <a:spcPct val="130000"/>
              </a:lnSpc>
              <a:spcBef>
                <a:spcPts val="0"/>
              </a:spcBef>
              <a:spcAft>
                <a:spcPts val="0"/>
              </a:spcAft>
              <a:defRPr sz="1600" b="0">
                <a:solidFill>
                  <a:srgbClr val="BDC6D5"/>
                </a:solidFill>
                <a:latin typeface="DejaVu Sans"/>
              </a:defRPr>
            </a:pPr>
            <a:r>
              <a:t>changes.</a:t>
            </a:r>
          </a:p>
        </p:txBody>
      </p:sp>
      <p:sp>
        <p:nvSpPr>
          <p:cNvPr id="18" name="Rounded Rectangle 17"/>
          <p:cNvSpPr/>
          <p:nvPr/>
        </p:nvSpPr>
        <p:spPr>
          <a:xfrm>
            <a:off x="8111066"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5066"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03</a:t>
            </a:r>
          </a:p>
        </p:txBody>
      </p:sp>
      <p:sp>
        <p:nvSpPr>
          <p:cNvPr id="20" name="TextBox 19"/>
          <p:cNvSpPr txBox="1"/>
          <p:nvPr/>
        </p:nvSpPr>
        <p:spPr>
          <a:xfrm>
            <a:off x="8365066"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Did it return?</a:t>
            </a:r>
          </a:p>
        </p:txBody>
      </p:sp>
      <p:sp>
        <p:nvSpPr>
          <p:cNvPr id="21" name="TextBox 20"/>
          <p:cNvSpPr txBox="1"/>
          <p:nvPr/>
        </p:nvSpPr>
        <p:spPr>
          <a:xfrm>
            <a:off x="8365066" y="3937000"/>
            <a:ext cx="3115733" cy="60452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A return needs a clear closing</a:t>
            </a:r>
          </a:p>
          <a:p>
            <a:pPr>
              <a:lnSpc>
                <a:spcPct val="130000"/>
              </a:lnSpc>
              <a:spcBef>
                <a:spcPts val="0"/>
              </a:spcBef>
              <a:spcAft>
                <a:spcPts val="0"/>
              </a:spcAft>
              <a:defRPr sz="1600" b="0">
                <a:solidFill>
                  <a:srgbClr val="BDC6D5"/>
                </a:solidFill>
                <a:latin typeface="DejaVu Sans"/>
              </a:defRPr>
            </a:pPr>
            <a:r>
              <a:t>action and history.</a:t>
            </a:r>
          </a:p>
        </p:txBody>
      </p:sp>
      <p:sp>
        <p:nvSpPr>
          <p:cNvPr id="22" name="TextBox 21"/>
          <p:cNvSpPr txBox="1"/>
          <p:nvPr/>
        </p:nvSpPr>
        <p:spPr>
          <a:xfrm>
            <a:off x="533400" y="5778500"/>
            <a:ext cx="11176000" cy="356870"/>
          </a:xfrm>
          <a:prstGeom prst="rect">
            <a:avLst/>
          </a:prstGeom>
          <a:noFill/>
        </p:spPr>
        <p:txBody>
          <a:bodyPr wrap="none" lIns="0" rIns="0" tIns="0" bIns="0">
            <a:spAutoFit/>
          </a:bodyPr>
          <a:lstStyle/>
          <a:p>
            <a:pPr>
              <a:lnSpc>
                <a:spcPct val="130000"/>
              </a:lnSpc>
              <a:spcBef>
                <a:spcPts val="0"/>
              </a:spcBef>
              <a:spcAft>
                <a:spcPts val="0"/>
              </a:spcAft>
              <a:defRPr sz="1700" b="1">
                <a:solidFill>
                  <a:srgbClr val="D4F778"/>
                </a:solidFill>
                <a:latin typeface="DejaVu Sans"/>
              </a:defRPr>
            </a:pPr>
            <a:r>
              <a:t>Opportunity: make accountability part of the handover itself.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03 / USERS &amp; VALUE</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One workflow. Three people who benefit.</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Start with one equipment room and one teacher champion.</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Implemented workflows: README.md • Trakr/Features • dashboard/README.md</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03</a:t>
            </a:r>
          </a:p>
        </p:txBody>
      </p:sp>
      <p:sp>
        <p:nvSpPr>
          <p:cNvPr id="10" name="Rounded Rectangle 9"/>
          <p:cNvSpPr/>
          <p:nvPr/>
        </p:nvSpPr>
        <p:spPr>
          <a:xfrm>
            <a:off x="508000"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01</a:t>
            </a:r>
          </a:p>
        </p:txBody>
      </p:sp>
      <p:sp>
        <p:nvSpPr>
          <p:cNvPr id="12" name="TextBox 11"/>
          <p:cNvSpPr txBox="1"/>
          <p:nvPr/>
        </p:nvSpPr>
        <p:spPr>
          <a:xfrm>
            <a:off x="762000"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Student</a:t>
            </a:r>
          </a:p>
        </p:txBody>
      </p:sp>
      <p:sp>
        <p:nvSpPr>
          <p:cNvPr id="13" name="TextBox 12"/>
          <p:cNvSpPr txBox="1"/>
          <p:nvPr/>
        </p:nvSpPr>
        <p:spPr>
          <a:xfrm>
            <a:off x="762000"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Scan several items.</a:t>
            </a:r>
          </a:p>
          <a:p>
            <a:pPr>
              <a:lnSpc>
                <a:spcPct val="130000"/>
              </a:lnSpc>
              <a:spcBef>
                <a:spcPts val="0"/>
              </a:spcBef>
              <a:spcAft>
                <a:spcPts val="0"/>
              </a:spcAft>
              <a:defRPr sz="1600" b="0">
                <a:solidFill>
                  <a:srgbClr val="BDC6D5"/>
                </a:solidFill>
                <a:latin typeface="DejaVu Sans"/>
              </a:defRPr>
            </a:pPr>
            <a:r>
              <a:t>Acknowledge condition. Keep</a:t>
            </a:r>
          </a:p>
          <a:p>
            <a:pPr>
              <a:lnSpc>
                <a:spcPct val="130000"/>
              </a:lnSpc>
              <a:spcBef>
                <a:spcPts val="0"/>
              </a:spcBef>
              <a:spcAft>
                <a:spcPts val="0"/>
              </a:spcAft>
              <a:defRPr sz="1600" b="0">
                <a:solidFill>
                  <a:srgbClr val="BDC6D5"/>
                </a:solidFill>
                <a:latin typeface="DejaVu Sans"/>
              </a:defRPr>
            </a:pPr>
            <a:r>
              <a:t>a receipt.</a:t>
            </a:r>
          </a:p>
        </p:txBody>
      </p:sp>
      <p:sp>
        <p:nvSpPr>
          <p:cNvPr id="14" name="Rounded Rectangle 13"/>
          <p:cNvSpPr/>
          <p:nvPr/>
        </p:nvSpPr>
        <p:spPr>
          <a:xfrm>
            <a:off x="4309533"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3533"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02</a:t>
            </a:r>
          </a:p>
        </p:txBody>
      </p:sp>
      <p:sp>
        <p:nvSpPr>
          <p:cNvPr id="16" name="TextBox 15"/>
          <p:cNvSpPr txBox="1"/>
          <p:nvPr/>
        </p:nvSpPr>
        <p:spPr>
          <a:xfrm>
            <a:off x="4563533"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Teacher</a:t>
            </a:r>
          </a:p>
        </p:txBody>
      </p:sp>
      <p:sp>
        <p:nvSpPr>
          <p:cNvPr id="17" name="TextBox 16"/>
          <p:cNvSpPr txBox="1"/>
          <p:nvPr/>
        </p:nvSpPr>
        <p:spPr>
          <a:xfrm>
            <a:off x="4563533"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Enroll tags. View claims.</a:t>
            </a:r>
          </a:p>
          <a:p>
            <a:pPr>
              <a:lnSpc>
                <a:spcPct val="130000"/>
              </a:lnSpc>
              <a:spcBef>
                <a:spcPts val="0"/>
              </a:spcBef>
              <a:spcAft>
                <a:spcPts val="0"/>
              </a:spcAft>
              <a:defRPr sz="1600" b="0">
                <a:solidFill>
                  <a:srgbClr val="BDC6D5"/>
                </a:solidFill>
                <a:latin typeface="DejaVu Sans"/>
              </a:defRPr>
            </a:pPr>
            <a:r>
              <a:t>Confirm returns. Resolve</a:t>
            </a:r>
          </a:p>
          <a:p>
            <a:pPr>
              <a:lnSpc>
                <a:spcPct val="130000"/>
              </a:lnSpc>
              <a:spcBef>
                <a:spcPts val="0"/>
              </a:spcBef>
              <a:spcAft>
                <a:spcPts val="0"/>
              </a:spcAft>
              <a:defRPr sz="1600" b="0">
                <a:solidFill>
                  <a:srgbClr val="BDC6D5"/>
                </a:solidFill>
                <a:latin typeface="DejaVu Sans"/>
              </a:defRPr>
            </a:pPr>
            <a:r>
              <a:t>issues.</a:t>
            </a:r>
          </a:p>
        </p:txBody>
      </p:sp>
      <p:sp>
        <p:nvSpPr>
          <p:cNvPr id="18" name="Rounded Rectangle 17"/>
          <p:cNvSpPr/>
          <p:nvPr/>
        </p:nvSpPr>
        <p:spPr>
          <a:xfrm>
            <a:off x="8111066"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5066"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03</a:t>
            </a:r>
          </a:p>
        </p:txBody>
      </p:sp>
      <p:sp>
        <p:nvSpPr>
          <p:cNvPr id="20" name="TextBox 19"/>
          <p:cNvSpPr txBox="1"/>
          <p:nvPr/>
        </p:nvSpPr>
        <p:spPr>
          <a:xfrm>
            <a:off x="8365066"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Equipment lead</a:t>
            </a:r>
          </a:p>
        </p:txBody>
      </p:sp>
      <p:sp>
        <p:nvSpPr>
          <p:cNvPr id="21" name="TextBox 20"/>
          <p:cNvSpPr txBox="1"/>
          <p:nvPr/>
        </p:nvSpPr>
        <p:spPr>
          <a:xfrm>
            <a:off x="8365066"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Review inventory, overdue</a:t>
            </a:r>
          </a:p>
          <a:p>
            <a:pPr>
              <a:lnSpc>
                <a:spcPct val="130000"/>
              </a:lnSpc>
              <a:spcBef>
                <a:spcPts val="0"/>
              </a:spcBef>
              <a:spcAft>
                <a:spcPts val="0"/>
              </a:spcAft>
              <a:defRPr sz="1600" b="0">
                <a:solidFill>
                  <a:srgbClr val="BDC6D5"/>
                </a:solidFill>
                <a:latin typeface="DejaVu Sans"/>
              </a:defRPr>
            </a:pPr>
            <a:r>
              <a:t>claims and operational</a:t>
            </a:r>
          </a:p>
          <a:p>
            <a:pPr>
              <a:lnSpc>
                <a:spcPct val="130000"/>
              </a:lnSpc>
              <a:spcBef>
                <a:spcPts val="0"/>
              </a:spcBef>
              <a:spcAft>
                <a:spcPts val="0"/>
              </a:spcAft>
              <a:defRPr sz="1600" b="0">
                <a:solidFill>
                  <a:srgbClr val="BDC6D5"/>
                </a:solidFill>
                <a:latin typeface="DejaVu Sans"/>
              </a:defRPr>
            </a:pPr>
            <a:r>
              <a:t>exceptions.</a:t>
            </a:r>
          </a:p>
        </p:txBody>
      </p:sp>
      <p:sp>
        <p:nvSpPr>
          <p:cNvPr id="22" name="TextBox 21"/>
          <p:cNvSpPr txBox="1"/>
          <p:nvPr/>
        </p:nvSpPr>
        <p:spPr>
          <a:xfrm>
            <a:off x="533400" y="5778500"/>
            <a:ext cx="11176000" cy="356870"/>
          </a:xfrm>
          <a:prstGeom prst="rect">
            <a:avLst/>
          </a:prstGeom>
          <a:noFill/>
        </p:spPr>
        <p:txBody>
          <a:bodyPr wrap="none" lIns="0" rIns="0" tIns="0" bIns="0">
            <a:spAutoFit/>
          </a:bodyPr>
          <a:lstStyle/>
          <a:p>
            <a:pPr>
              <a:lnSpc>
                <a:spcPct val="130000"/>
              </a:lnSpc>
              <a:spcBef>
                <a:spcPts val="0"/>
              </a:spcBef>
              <a:spcAft>
                <a:spcPts val="0"/>
              </a:spcAft>
              <a:defRPr sz="1700" b="1">
                <a:solidFill>
                  <a:srgbClr val="D4F778"/>
                </a:solidFill>
                <a:latin typeface="DejaVu Sans"/>
              </a:defRPr>
            </a:pPr>
            <a:r>
              <a:t>User value: less ambiguity for students; clearer follow-up for staff.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04 / PRODUCT JOURNEY</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Tap. Check. Confirm. Return.</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Example: a camera with a loose strap and a tripod with no issues.</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Sources: CheckoutView.swift • ReturnView.swift • Domain.swift</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04</a:t>
            </a:r>
          </a:p>
        </p:txBody>
      </p:sp>
      <p:sp>
        <p:nvSpPr>
          <p:cNvPr id="10" name="Rounded Rectangle 9"/>
          <p:cNvSpPr/>
          <p:nvPr/>
        </p:nvSpPr>
        <p:spPr>
          <a:xfrm>
            <a:off x="508000" y="2667000"/>
            <a:ext cx="2527300" cy="1968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28956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01 Tap</a:t>
            </a:r>
          </a:p>
        </p:txBody>
      </p:sp>
      <p:sp>
        <p:nvSpPr>
          <p:cNvPr id="12" name="TextBox 11"/>
          <p:cNvSpPr txBox="1"/>
          <p:nvPr/>
        </p:nvSpPr>
        <p:spPr>
          <a:xfrm>
            <a:off x="698500" y="34417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Resolve the NFC tag</a:t>
            </a:r>
          </a:p>
          <a:p>
            <a:pPr>
              <a:lnSpc>
                <a:spcPct val="130000"/>
              </a:lnSpc>
              <a:spcBef>
                <a:spcPts val="0"/>
              </a:spcBef>
              <a:spcAft>
                <a:spcPts val="0"/>
              </a:spcAft>
              <a:defRPr sz="1500" b="0">
                <a:solidFill>
                  <a:srgbClr val="F5F3ED"/>
                </a:solidFill>
                <a:latin typeface="DejaVu Sans"/>
              </a:defRPr>
            </a:pPr>
            <a:r>
              <a:t>to an enrolled item.</a:t>
            </a:r>
          </a:p>
        </p:txBody>
      </p:sp>
      <p:sp>
        <p:nvSpPr>
          <p:cNvPr id="13" name="TextBox 12"/>
          <p:cNvSpPr txBox="1"/>
          <p:nvPr/>
        </p:nvSpPr>
        <p:spPr>
          <a:xfrm>
            <a:off x="3098800" y="33655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14" name="Rounded Rectangle 13"/>
          <p:cNvSpPr/>
          <p:nvPr/>
        </p:nvSpPr>
        <p:spPr>
          <a:xfrm>
            <a:off x="3390900" y="2667000"/>
            <a:ext cx="2527300" cy="1968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1400" y="28956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02 Check</a:t>
            </a:r>
          </a:p>
        </p:txBody>
      </p:sp>
      <p:sp>
        <p:nvSpPr>
          <p:cNvPr id="16" name="TextBox 15"/>
          <p:cNvSpPr txBox="1"/>
          <p:nvPr/>
        </p:nvSpPr>
        <p:spPr>
          <a:xfrm>
            <a:off x="3581400" y="34417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Review the list and</a:t>
            </a:r>
          </a:p>
          <a:p>
            <a:pPr>
              <a:lnSpc>
                <a:spcPct val="130000"/>
              </a:lnSpc>
              <a:spcBef>
                <a:spcPts val="0"/>
              </a:spcBef>
              <a:spcAft>
                <a:spcPts val="0"/>
              </a:spcAft>
              <a:defRPr sz="1500" b="0">
                <a:solidFill>
                  <a:srgbClr val="F5F3ED"/>
                </a:solidFill>
                <a:latin typeface="DejaVu Sans"/>
              </a:defRPr>
            </a:pPr>
            <a:r>
              <a:t>report condition.</a:t>
            </a:r>
          </a:p>
        </p:txBody>
      </p:sp>
      <p:sp>
        <p:nvSpPr>
          <p:cNvPr id="17" name="TextBox 16"/>
          <p:cNvSpPr txBox="1"/>
          <p:nvPr/>
        </p:nvSpPr>
        <p:spPr>
          <a:xfrm>
            <a:off x="5981700" y="33655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18" name="Rounded Rectangle 17"/>
          <p:cNvSpPr/>
          <p:nvPr/>
        </p:nvSpPr>
        <p:spPr>
          <a:xfrm>
            <a:off x="6273800" y="2667000"/>
            <a:ext cx="2527300" cy="1968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300" y="28956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03 Confirm</a:t>
            </a:r>
          </a:p>
        </p:txBody>
      </p:sp>
      <p:sp>
        <p:nvSpPr>
          <p:cNvPr id="20" name="TextBox 19"/>
          <p:cNvSpPr txBox="1"/>
          <p:nvPr/>
        </p:nvSpPr>
        <p:spPr>
          <a:xfrm>
            <a:off x="6464300" y="34417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Save claims and show</a:t>
            </a:r>
          </a:p>
          <a:p>
            <a:pPr>
              <a:lnSpc>
                <a:spcPct val="130000"/>
              </a:lnSpc>
              <a:spcBef>
                <a:spcPts val="0"/>
              </a:spcBef>
              <a:spcAft>
                <a:spcPts val="0"/>
              </a:spcAft>
              <a:defRPr sz="1500" b="0">
                <a:solidFill>
                  <a:srgbClr val="F5F3ED"/>
                </a:solidFill>
                <a:latin typeface="DejaVu Sans"/>
              </a:defRPr>
            </a:pPr>
            <a:r>
              <a:t>a receipt.</a:t>
            </a:r>
          </a:p>
        </p:txBody>
      </p:sp>
      <p:sp>
        <p:nvSpPr>
          <p:cNvPr id="21" name="TextBox 20"/>
          <p:cNvSpPr txBox="1"/>
          <p:nvPr/>
        </p:nvSpPr>
        <p:spPr>
          <a:xfrm>
            <a:off x="8864600" y="33655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22" name="Rounded Rectangle 21"/>
          <p:cNvSpPr/>
          <p:nvPr/>
        </p:nvSpPr>
        <p:spPr>
          <a:xfrm>
            <a:off x="9156700" y="2667000"/>
            <a:ext cx="2527300" cy="1968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47200" y="28956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04 Return</a:t>
            </a:r>
          </a:p>
        </p:txBody>
      </p:sp>
      <p:sp>
        <p:nvSpPr>
          <p:cNvPr id="24" name="TextBox 23"/>
          <p:cNvSpPr txBox="1"/>
          <p:nvPr/>
        </p:nvSpPr>
        <p:spPr>
          <a:xfrm>
            <a:off x="9347200" y="34417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Teacher closes active</a:t>
            </a:r>
          </a:p>
          <a:p>
            <a:pPr>
              <a:lnSpc>
                <a:spcPct val="130000"/>
              </a:lnSpc>
              <a:spcBef>
                <a:spcPts val="0"/>
              </a:spcBef>
              <a:spcAft>
                <a:spcPts val="0"/>
              </a:spcAft>
              <a:defRPr sz="1500" b="0">
                <a:solidFill>
                  <a:srgbClr val="F5F3ED"/>
                </a:solidFill>
                <a:latin typeface="DejaVu Sans"/>
              </a:defRPr>
            </a:pPr>
            <a:r>
              <a:t>claims.</a:t>
            </a:r>
          </a:p>
        </p:txBody>
      </p:sp>
      <p:sp>
        <p:nvSpPr>
          <p:cNvPr id="25" name="TextBox 24"/>
          <p:cNvSpPr txBox="1"/>
          <p:nvPr/>
        </p:nvSpPr>
        <p:spPr>
          <a:xfrm>
            <a:off x="533400" y="5778500"/>
            <a:ext cx="11176000" cy="356870"/>
          </a:xfrm>
          <a:prstGeom prst="rect">
            <a:avLst/>
          </a:prstGeom>
          <a:noFill/>
        </p:spPr>
        <p:txBody>
          <a:bodyPr wrap="none" lIns="0" rIns="0" tIns="0" bIns="0">
            <a:spAutoFit/>
          </a:bodyPr>
          <a:lstStyle/>
          <a:p>
            <a:pPr>
              <a:lnSpc>
                <a:spcPct val="130000"/>
              </a:lnSpc>
              <a:spcBef>
                <a:spcPts val="0"/>
              </a:spcBef>
              <a:spcAft>
                <a:spcPts val="0"/>
              </a:spcAft>
              <a:defRPr sz="1700" b="1">
                <a:solidFill>
                  <a:srgbClr val="D4F778"/>
                </a:solidFill>
                <a:latin typeface="DejaVu Sans"/>
              </a:defRPr>
            </a:pPr>
            <a:r>
              <a:t>Condition reporting and return confirmation are separate responsibilities.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05 / DATA FLOW</a:t>
            </a:r>
          </a:p>
        </p:txBody>
      </p:sp>
      <p:sp>
        <p:nvSpPr>
          <p:cNvPr id="5" name="TextBox 4"/>
          <p:cNvSpPr txBox="1"/>
          <p:nvPr/>
        </p:nvSpPr>
        <p:spPr>
          <a:xfrm>
            <a:off x="508000" y="838200"/>
            <a:ext cx="11163300" cy="594038"/>
          </a:xfrm>
          <a:prstGeom prst="rect">
            <a:avLst/>
          </a:prstGeom>
          <a:noFill/>
        </p:spPr>
        <p:txBody>
          <a:bodyPr wrap="none" lIns="0" rIns="0" tIns="0" bIns="0">
            <a:spAutoFit/>
          </a:bodyPr>
          <a:lstStyle/>
          <a:p>
            <a:pPr>
              <a:lnSpc>
                <a:spcPct val="130000"/>
              </a:lnSpc>
              <a:spcBef>
                <a:spcPts val="0"/>
              </a:spcBef>
              <a:spcAft>
                <a:spcPts val="0"/>
              </a:spcAft>
              <a:defRPr sz="3136" b="1">
                <a:solidFill>
                  <a:srgbClr val="F5F3ED"/>
                </a:solidFill>
                <a:latin typeface="DejaVu Sans"/>
              </a:defRPr>
            </a:pPr>
            <a:r>
              <a:t>A tap identifies the item. Rules govern the write.</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Mobile clients write directly to Firestore using atomic batches.</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Sources: NFCService.swift • FirebaseGateway.swift • firebase/firestore.rules</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05</a:t>
            </a:r>
          </a:p>
        </p:txBody>
      </p:sp>
      <p:sp>
        <p:nvSpPr>
          <p:cNvPr id="10" name="Rounded Rectangle 9"/>
          <p:cNvSpPr/>
          <p:nvPr/>
        </p:nvSpPr>
        <p:spPr>
          <a:xfrm>
            <a:off x="508000" y="2603500"/>
            <a:ext cx="2527300" cy="19558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28321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NFC tag</a:t>
            </a:r>
          </a:p>
        </p:txBody>
      </p:sp>
      <p:sp>
        <p:nvSpPr>
          <p:cNvPr id="12" name="TextBox 11"/>
          <p:cNvSpPr txBox="1"/>
          <p:nvPr/>
        </p:nvSpPr>
        <p:spPr>
          <a:xfrm>
            <a:off x="698500" y="33782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tr: identifier</a:t>
            </a:r>
          </a:p>
          <a:p>
            <a:pPr>
              <a:lnSpc>
                <a:spcPct val="130000"/>
              </a:lnSpc>
              <a:spcBef>
                <a:spcPts val="0"/>
              </a:spcBef>
              <a:spcAft>
                <a:spcPts val="0"/>
              </a:spcAft>
              <a:defRPr sz="1500" b="0">
                <a:solidFill>
                  <a:srgbClr val="F5F3ED"/>
                </a:solidFill>
                <a:latin typeface="DejaVu Sans"/>
              </a:defRPr>
            </a:pPr>
            <a:r>
              <a:t>No borrower data</a:t>
            </a:r>
          </a:p>
        </p:txBody>
      </p:sp>
      <p:sp>
        <p:nvSpPr>
          <p:cNvPr id="13" name="TextBox 12"/>
          <p:cNvSpPr txBox="1"/>
          <p:nvPr/>
        </p:nvSpPr>
        <p:spPr>
          <a:xfrm>
            <a:off x="3098800" y="33020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14" name="Rounded Rectangle 13"/>
          <p:cNvSpPr/>
          <p:nvPr/>
        </p:nvSpPr>
        <p:spPr>
          <a:xfrm>
            <a:off x="3390900" y="2603500"/>
            <a:ext cx="2527300" cy="19558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1400" y="28321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Native app</a:t>
            </a:r>
          </a:p>
        </p:txBody>
      </p:sp>
      <p:sp>
        <p:nvSpPr>
          <p:cNvPr id="16" name="TextBox 15"/>
          <p:cNvSpPr txBox="1"/>
          <p:nvPr/>
        </p:nvSpPr>
        <p:spPr>
          <a:xfrm>
            <a:off x="3581400" y="33782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Resolve item</a:t>
            </a:r>
          </a:p>
          <a:p>
            <a:pPr>
              <a:lnSpc>
                <a:spcPct val="130000"/>
              </a:lnSpc>
              <a:spcBef>
                <a:spcPts val="0"/>
              </a:spcBef>
              <a:spcAft>
                <a:spcPts val="0"/>
              </a:spcAft>
              <a:defRPr sz="1500" b="0">
                <a:solidFill>
                  <a:srgbClr val="F5F3ED"/>
                </a:solidFill>
                <a:latin typeface="DejaVu Sans"/>
              </a:defRPr>
            </a:pPr>
            <a:r>
              <a:t>Stage + validate</a:t>
            </a:r>
          </a:p>
        </p:txBody>
      </p:sp>
      <p:sp>
        <p:nvSpPr>
          <p:cNvPr id="17" name="TextBox 16"/>
          <p:cNvSpPr txBox="1"/>
          <p:nvPr/>
        </p:nvSpPr>
        <p:spPr>
          <a:xfrm>
            <a:off x="5981700" y="33020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18" name="Rounded Rectangle 17"/>
          <p:cNvSpPr/>
          <p:nvPr/>
        </p:nvSpPr>
        <p:spPr>
          <a:xfrm>
            <a:off x="6273800" y="2603500"/>
            <a:ext cx="2527300" cy="19558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300" y="28321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Security Rules</a:t>
            </a:r>
          </a:p>
        </p:txBody>
      </p:sp>
      <p:sp>
        <p:nvSpPr>
          <p:cNvPr id="20" name="TextBox 19"/>
          <p:cNvSpPr txBox="1"/>
          <p:nvPr/>
        </p:nvSpPr>
        <p:spPr>
          <a:xfrm>
            <a:off x="6464300" y="33782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Identity + role</a:t>
            </a:r>
          </a:p>
          <a:p>
            <a:pPr>
              <a:lnSpc>
                <a:spcPct val="130000"/>
              </a:lnSpc>
              <a:spcBef>
                <a:spcPts val="0"/>
              </a:spcBef>
              <a:spcAft>
                <a:spcPts val="0"/>
              </a:spcAft>
              <a:defRPr sz="1500" b="0">
                <a:solidFill>
                  <a:srgbClr val="F5F3ED"/>
                </a:solidFill>
                <a:latin typeface="DejaVu Sans"/>
              </a:defRPr>
            </a:pPr>
            <a:r>
              <a:t>Ownership + state</a:t>
            </a:r>
          </a:p>
        </p:txBody>
      </p:sp>
      <p:sp>
        <p:nvSpPr>
          <p:cNvPr id="21" name="TextBox 20"/>
          <p:cNvSpPr txBox="1"/>
          <p:nvPr/>
        </p:nvSpPr>
        <p:spPr>
          <a:xfrm>
            <a:off x="8864600" y="33020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22" name="Rounded Rectangle 21"/>
          <p:cNvSpPr/>
          <p:nvPr/>
        </p:nvSpPr>
        <p:spPr>
          <a:xfrm>
            <a:off x="9156700" y="2603500"/>
            <a:ext cx="2527300" cy="19558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47200" y="28321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Firestore</a:t>
            </a:r>
          </a:p>
        </p:txBody>
      </p:sp>
      <p:sp>
        <p:nvSpPr>
          <p:cNvPr id="24" name="TextBox 23"/>
          <p:cNvSpPr txBox="1"/>
          <p:nvPr/>
        </p:nvSpPr>
        <p:spPr>
          <a:xfrm>
            <a:off x="9347200" y="33782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Batch + claims</a:t>
            </a:r>
          </a:p>
          <a:p>
            <a:pPr>
              <a:lnSpc>
                <a:spcPct val="130000"/>
              </a:lnSpc>
              <a:spcBef>
                <a:spcPts val="0"/>
              </a:spcBef>
              <a:spcAft>
                <a:spcPts val="0"/>
              </a:spcAft>
              <a:defRPr sz="1500" b="0">
                <a:solidFill>
                  <a:srgbClr val="F5F3ED"/>
                </a:solidFill>
                <a:latin typeface="DejaVu Sans"/>
              </a:defRPr>
            </a:pPr>
            <a:r>
              <a:t>Optional issues</a:t>
            </a:r>
          </a:p>
        </p:txBody>
      </p:sp>
      <p:sp>
        <p:nvSpPr>
          <p:cNvPr id="25" name="Rounded Rectangle 24"/>
          <p:cNvSpPr/>
          <p:nvPr/>
        </p:nvSpPr>
        <p:spPr>
          <a:xfrm>
            <a:off x="508000" y="4813300"/>
            <a:ext cx="11176000" cy="774700"/>
          </a:xfrm>
          <a:prstGeom prst="roundRect">
            <a:avLst>
              <a:gd name="adj" fmla="val 8000"/>
            </a:avLst>
          </a:prstGeom>
          <a:solidFill>
            <a:srgbClr val="273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 y="4965700"/>
            <a:ext cx="10782300" cy="340360"/>
          </a:xfrm>
          <a:prstGeom prst="rect">
            <a:avLst/>
          </a:prstGeom>
          <a:noFill/>
        </p:spPr>
        <p:txBody>
          <a:bodyPr wrap="none" lIns="0" rIns="0" tIns="0" bIns="0">
            <a:spAutoFit/>
          </a:bodyPr>
          <a:lstStyle/>
          <a:p>
            <a:pPr>
              <a:lnSpc>
                <a:spcPct val="130000"/>
              </a:lnSpc>
              <a:spcBef>
                <a:spcPts val="0"/>
              </a:spcBef>
              <a:spcAft>
                <a:spcPts val="0"/>
              </a:spcAft>
              <a:defRPr sz="1600" b="0">
                <a:solidFill>
                  <a:srgbClr val="F5F3ED"/>
                </a:solidFill>
                <a:latin typeface="DejaVu Sans"/>
              </a:defRPr>
            </a:pPr>
            <a:r>
              <a:t>Google sign-in → verified identity | Teacher return → claim status update</a:t>
            </a:r>
          </a:p>
        </p:txBody>
      </p:sp>
      <p:sp>
        <p:nvSpPr>
          <p:cNvPr id="27" name="TextBox 26"/>
          <p:cNvSpPr txBox="1"/>
          <p:nvPr/>
        </p:nvSpPr>
        <p:spPr>
          <a:xfrm>
            <a:off x="533400" y="5778500"/>
            <a:ext cx="11176000" cy="356870"/>
          </a:xfrm>
          <a:prstGeom prst="rect">
            <a:avLst/>
          </a:prstGeom>
          <a:noFill/>
        </p:spPr>
        <p:txBody>
          <a:bodyPr wrap="none" lIns="0" rIns="0" tIns="0" bIns="0">
            <a:spAutoFit/>
          </a:bodyPr>
          <a:lstStyle/>
          <a:p>
            <a:pPr>
              <a:lnSpc>
                <a:spcPct val="130000"/>
              </a:lnSpc>
              <a:spcBef>
                <a:spcPts val="0"/>
              </a:spcBef>
              <a:spcAft>
                <a:spcPts val="0"/>
              </a:spcAft>
              <a:defRPr sz="1700" b="1">
                <a:solidFill>
                  <a:srgbClr val="D4F778"/>
                </a:solidFill>
                <a:latin typeface="DejaVu Sans"/>
              </a:defRPr>
            </a:pPr>
            <a:r>
              <a:t>Atomic commit: all related writes succeed together, or none 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06 / ENGINEERING</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Designed for the awkward moments, too.</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The quality of the system shows up when a workflow goes wrong.</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Evidence: docs/mvp-verification.md • TrakrTests • firebase/functions/test</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06</a:t>
            </a:r>
          </a:p>
        </p:txBody>
      </p:sp>
      <p:sp>
        <p:nvSpPr>
          <p:cNvPr id="10" name="Rounded Rectangle 9"/>
          <p:cNvSpPr/>
          <p:nvPr/>
        </p:nvSpPr>
        <p:spPr>
          <a:xfrm>
            <a:off x="508000"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01</a:t>
            </a:r>
          </a:p>
        </p:txBody>
      </p:sp>
      <p:sp>
        <p:nvSpPr>
          <p:cNvPr id="12" name="TextBox 11"/>
          <p:cNvSpPr txBox="1"/>
          <p:nvPr/>
        </p:nvSpPr>
        <p:spPr>
          <a:xfrm>
            <a:off x="762000"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Role boundaries</a:t>
            </a:r>
          </a:p>
        </p:txBody>
      </p:sp>
      <p:sp>
        <p:nvSpPr>
          <p:cNvPr id="13" name="TextBox 12"/>
          <p:cNvSpPr txBox="1"/>
          <p:nvPr/>
        </p:nvSpPr>
        <p:spPr>
          <a:xfrm>
            <a:off x="762000" y="3937000"/>
            <a:ext cx="3115733" cy="60452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Verified school identity and</a:t>
            </a:r>
          </a:p>
          <a:p>
            <a:pPr>
              <a:lnSpc>
                <a:spcPct val="130000"/>
              </a:lnSpc>
              <a:spcBef>
                <a:spcPts val="0"/>
              </a:spcBef>
              <a:spcAft>
                <a:spcPts val="0"/>
              </a:spcAft>
              <a:defRPr sz="1600" b="0">
                <a:solidFill>
                  <a:srgbClr val="BDC6D5"/>
                </a:solidFill>
                <a:latin typeface="DejaVu Sans"/>
              </a:defRPr>
            </a:pPr>
            <a:r>
              <a:t>record ownership checks.</a:t>
            </a:r>
          </a:p>
        </p:txBody>
      </p:sp>
      <p:sp>
        <p:nvSpPr>
          <p:cNvPr id="14" name="Rounded Rectangle 13"/>
          <p:cNvSpPr/>
          <p:nvPr/>
        </p:nvSpPr>
        <p:spPr>
          <a:xfrm>
            <a:off x="4309533"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3533"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02</a:t>
            </a:r>
          </a:p>
        </p:txBody>
      </p:sp>
      <p:sp>
        <p:nvSpPr>
          <p:cNvPr id="16" name="TextBox 15"/>
          <p:cNvSpPr txBox="1"/>
          <p:nvPr/>
        </p:nvSpPr>
        <p:spPr>
          <a:xfrm>
            <a:off x="4563533"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Honest failure</a:t>
            </a:r>
          </a:p>
        </p:txBody>
      </p:sp>
      <p:sp>
        <p:nvSpPr>
          <p:cNvPr id="17" name="TextBox 16"/>
          <p:cNvSpPr txBox="1"/>
          <p:nvPr/>
        </p:nvSpPr>
        <p:spPr>
          <a:xfrm>
            <a:off x="4563533"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Keep staged items offline;</a:t>
            </a:r>
          </a:p>
          <a:p>
            <a:pPr>
              <a:lnSpc>
                <a:spcPct val="130000"/>
              </a:lnSpc>
              <a:spcBef>
                <a:spcPts val="0"/>
              </a:spcBef>
              <a:spcAft>
                <a:spcPts val="0"/>
              </a:spcAft>
              <a:defRPr sz="1600" b="0">
                <a:solidFill>
                  <a:srgbClr val="BDC6D5"/>
                </a:solidFill>
                <a:latin typeface="DejaVu Sans"/>
              </a:defRPr>
            </a:pPr>
            <a:r>
              <a:t>require a connection to</a:t>
            </a:r>
          </a:p>
          <a:p>
            <a:pPr>
              <a:lnSpc>
                <a:spcPct val="130000"/>
              </a:lnSpc>
              <a:spcBef>
                <a:spcPts val="0"/>
              </a:spcBef>
              <a:spcAft>
                <a:spcPts val="0"/>
              </a:spcAft>
              <a:defRPr sz="1600" b="0">
                <a:solidFill>
                  <a:srgbClr val="BDC6D5"/>
                </a:solidFill>
                <a:latin typeface="DejaVu Sans"/>
              </a:defRPr>
            </a:pPr>
            <a:r>
              <a:t>confirm.</a:t>
            </a:r>
          </a:p>
        </p:txBody>
      </p:sp>
      <p:sp>
        <p:nvSpPr>
          <p:cNvPr id="18" name="Rounded Rectangle 17"/>
          <p:cNvSpPr/>
          <p:nvPr/>
        </p:nvSpPr>
        <p:spPr>
          <a:xfrm>
            <a:off x="8111066"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5066"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03</a:t>
            </a:r>
          </a:p>
        </p:txBody>
      </p:sp>
      <p:sp>
        <p:nvSpPr>
          <p:cNvPr id="20" name="TextBox 19"/>
          <p:cNvSpPr txBox="1"/>
          <p:nvPr/>
        </p:nvSpPr>
        <p:spPr>
          <a:xfrm>
            <a:off x="8365066"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Durable history</a:t>
            </a:r>
          </a:p>
        </p:txBody>
      </p:sp>
      <p:sp>
        <p:nvSpPr>
          <p:cNvPr id="21" name="TextBox 20"/>
          <p:cNvSpPr txBox="1"/>
          <p:nvPr/>
        </p:nvSpPr>
        <p:spPr>
          <a:xfrm>
            <a:off x="8365066"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Replace a tag without</a:t>
            </a:r>
          </a:p>
          <a:p>
            <a:pPr>
              <a:lnSpc>
                <a:spcPct val="130000"/>
              </a:lnSpc>
              <a:spcBef>
                <a:spcPts val="0"/>
              </a:spcBef>
              <a:spcAft>
                <a:spcPts val="0"/>
              </a:spcAft>
              <a:defRPr sz="1600" b="0">
                <a:solidFill>
                  <a:srgbClr val="BDC6D5"/>
                </a:solidFill>
                <a:latin typeface="DejaVu Sans"/>
              </a:defRPr>
            </a:pPr>
            <a:r>
              <a:t>replacing the equipment</a:t>
            </a:r>
          </a:p>
          <a:p>
            <a:pPr>
              <a:lnSpc>
                <a:spcPct val="130000"/>
              </a:lnSpc>
              <a:spcBef>
                <a:spcPts val="0"/>
              </a:spcBef>
              <a:spcAft>
                <a:spcPts val="0"/>
              </a:spcAft>
              <a:defRPr sz="1600" b="0">
                <a:solidFill>
                  <a:srgbClr val="BDC6D5"/>
                </a:solidFill>
                <a:latin typeface="DejaVu Sans"/>
              </a:defRPr>
            </a:pPr>
            <a:r>
              <a:t>record.</a:t>
            </a:r>
          </a:p>
        </p:txBody>
      </p:sp>
      <p:sp>
        <p:nvSpPr>
          <p:cNvPr id="22" name="TextBox 21"/>
          <p:cNvSpPr txBox="1"/>
          <p:nvPr/>
        </p:nvSpPr>
        <p:spPr>
          <a:xfrm>
            <a:off x="533400" y="5778500"/>
            <a:ext cx="11176000" cy="356870"/>
          </a:xfrm>
          <a:prstGeom prst="rect">
            <a:avLst/>
          </a:prstGeom>
          <a:noFill/>
        </p:spPr>
        <p:txBody>
          <a:bodyPr wrap="none" lIns="0" rIns="0" tIns="0" bIns="0">
            <a:spAutoFit/>
          </a:bodyPr>
          <a:lstStyle/>
          <a:p>
            <a:pPr>
              <a:lnSpc>
                <a:spcPct val="130000"/>
              </a:lnSpc>
              <a:spcBef>
                <a:spcPts val="0"/>
              </a:spcBef>
              <a:spcAft>
                <a:spcPts val="0"/>
              </a:spcAft>
              <a:defRPr sz="1700" b="1">
                <a:solidFill>
                  <a:srgbClr val="D4F778"/>
                </a:solidFill>
                <a:latin typeface="DejaVu Sans"/>
              </a:defRPr>
            </a:pPr>
            <a:r>
              <a:t>Repository tests exist. Hardware and school-environment proof still matter.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07 / VALIDATION</a:t>
            </a:r>
          </a:p>
        </p:txBody>
      </p:sp>
      <p:sp>
        <p:nvSpPr>
          <p:cNvPr id="5" name="TextBox 4"/>
          <p:cNvSpPr txBox="1"/>
          <p:nvPr/>
        </p:nvSpPr>
        <p:spPr>
          <a:xfrm>
            <a:off x="508000" y="838200"/>
            <a:ext cx="11163300" cy="624428"/>
          </a:xfrm>
          <a:prstGeom prst="rect">
            <a:avLst/>
          </a:prstGeom>
          <a:noFill/>
        </p:spPr>
        <p:txBody>
          <a:bodyPr wrap="none" lIns="0" rIns="0" tIns="0" bIns="0">
            <a:spAutoFit/>
          </a:bodyPr>
          <a:lstStyle/>
          <a:p>
            <a:pPr>
              <a:lnSpc>
                <a:spcPct val="130000"/>
              </a:lnSpc>
              <a:spcBef>
                <a:spcPts val="0"/>
              </a:spcBef>
              <a:spcAft>
                <a:spcPts val="0"/>
              </a:spcAft>
              <a:defRPr sz="3320" b="1">
                <a:solidFill>
                  <a:srgbClr val="F5F3ED"/>
                </a:solidFill>
                <a:latin typeface="DejaVu Sans"/>
              </a:defRPr>
            </a:pPr>
            <a:r>
              <a:t>Measure the handover, not just the download.</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Proposed pilot: one equipment room, four weeks, a teacher sponsor.</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Proposed experiment • targets are acceptance criteria, not observed results</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07</a:t>
            </a:r>
          </a:p>
        </p:txBody>
      </p:sp>
      <p:sp>
        <p:nvSpPr>
          <p:cNvPr id="10" name="Rounded Rectangle 9"/>
          <p:cNvSpPr/>
          <p:nvPr/>
        </p:nvSpPr>
        <p:spPr>
          <a:xfrm>
            <a:off x="508000"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01</a:t>
            </a:r>
          </a:p>
        </p:txBody>
      </p:sp>
      <p:sp>
        <p:nvSpPr>
          <p:cNvPr id="12" name="TextBox 11"/>
          <p:cNvSpPr txBox="1"/>
          <p:nvPr/>
        </p:nvSpPr>
        <p:spPr>
          <a:xfrm>
            <a:off x="762000"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Week 1</a:t>
            </a:r>
          </a:p>
        </p:txBody>
      </p:sp>
      <p:sp>
        <p:nvSpPr>
          <p:cNvPr id="13" name="TextBox 12"/>
          <p:cNvSpPr txBox="1"/>
          <p:nvPr/>
        </p:nvSpPr>
        <p:spPr>
          <a:xfrm>
            <a:off x="762000"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Baseline timing, teacher</a:t>
            </a:r>
          </a:p>
          <a:p>
            <a:pPr>
              <a:lnSpc>
                <a:spcPct val="130000"/>
              </a:lnSpc>
              <a:spcBef>
                <a:spcPts val="0"/>
              </a:spcBef>
              <a:spcAft>
                <a:spcPts val="0"/>
              </a:spcAft>
              <a:defRPr sz="1600" b="0">
                <a:solidFill>
                  <a:srgbClr val="BDC6D5"/>
                </a:solidFill>
                <a:latin typeface="DejaVu Sans"/>
              </a:defRPr>
            </a:pPr>
            <a:r>
              <a:t>interviews and tag</a:t>
            </a:r>
          </a:p>
          <a:p>
            <a:pPr>
              <a:lnSpc>
                <a:spcPct val="130000"/>
              </a:lnSpc>
              <a:spcBef>
                <a:spcPts val="0"/>
              </a:spcBef>
              <a:spcAft>
                <a:spcPts val="0"/>
              </a:spcAft>
              <a:defRPr sz="1600" b="0">
                <a:solidFill>
                  <a:srgbClr val="BDC6D5"/>
                </a:solidFill>
                <a:latin typeface="DejaVu Sans"/>
              </a:defRPr>
            </a:pPr>
            <a:r>
              <a:t>enrollment.</a:t>
            </a:r>
          </a:p>
        </p:txBody>
      </p:sp>
      <p:sp>
        <p:nvSpPr>
          <p:cNvPr id="14" name="Rounded Rectangle 13"/>
          <p:cNvSpPr/>
          <p:nvPr/>
        </p:nvSpPr>
        <p:spPr>
          <a:xfrm>
            <a:off x="4309533"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3533"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02</a:t>
            </a:r>
          </a:p>
        </p:txBody>
      </p:sp>
      <p:sp>
        <p:nvSpPr>
          <p:cNvPr id="16" name="TextBox 15"/>
          <p:cNvSpPr txBox="1"/>
          <p:nvPr/>
        </p:nvSpPr>
        <p:spPr>
          <a:xfrm>
            <a:off x="4563533"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Weeks 2–3</a:t>
            </a:r>
          </a:p>
        </p:txBody>
      </p:sp>
      <p:sp>
        <p:nvSpPr>
          <p:cNvPr id="17" name="TextBox 16"/>
          <p:cNvSpPr txBox="1"/>
          <p:nvPr/>
        </p:nvSpPr>
        <p:spPr>
          <a:xfrm>
            <a:off x="4563533" y="3937000"/>
            <a:ext cx="3115733" cy="60452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Observe live handovers,</a:t>
            </a:r>
          </a:p>
          <a:p>
            <a:pPr>
              <a:lnSpc>
                <a:spcPct val="130000"/>
              </a:lnSpc>
              <a:spcBef>
                <a:spcPts val="0"/>
              </a:spcBef>
              <a:spcAft>
                <a:spcPts val="0"/>
              </a:spcAft>
              <a:defRPr sz="1600" b="0">
                <a:solidFill>
                  <a:srgbClr val="BDC6D5"/>
                </a:solidFill>
                <a:latin typeface="DejaVu Sans"/>
              </a:defRPr>
            </a:pPr>
            <a:r>
              <a:t>failures and support requests.</a:t>
            </a:r>
          </a:p>
        </p:txBody>
      </p:sp>
      <p:sp>
        <p:nvSpPr>
          <p:cNvPr id="18" name="Rounded Rectangle 17"/>
          <p:cNvSpPr/>
          <p:nvPr/>
        </p:nvSpPr>
        <p:spPr>
          <a:xfrm>
            <a:off x="8111066"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5066"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03</a:t>
            </a:r>
          </a:p>
        </p:txBody>
      </p:sp>
      <p:sp>
        <p:nvSpPr>
          <p:cNvPr id="20" name="TextBox 19"/>
          <p:cNvSpPr txBox="1"/>
          <p:nvPr/>
        </p:nvSpPr>
        <p:spPr>
          <a:xfrm>
            <a:off x="8365066"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Week 4</a:t>
            </a:r>
          </a:p>
        </p:txBody>
      </p:sp>
      <p:sp>
        <p:nvSpPr>
          <p:cNvPr id="21" name="TextBox 20"/>
          <p:cNvSpPr txBox="1"/>
          <p:nvPr/>
        </p:nvSpPr>
        <p:spPr>
          <a:xfrm>
            <a:off x="8365066" y="3937000"/>
            <a:ext cx="3115733" cy="60452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Compare results and decide</a:t>
            </a:r>
          </a:p>
          <a:p>
            <a:pPr>
              <a:lnSpc>
                <a:spcPct val="130000"/>
              </a:lnSpc>
              <a:spcBef>
                <a:spcPts val="0"/>
              </a:spcBef>
              <a:spcAft>
                <a:spcPts val="0"/>
              </a:spcAft>
              <a:defRPr sz="1600" b="0">
                <a:solidFill>
                  <a:srgbClr val="BDC6D5"/>
                </a:solidFill>
                <a:latin typeface="DejaVu Sans"/>
              </a:defRPr>
            </a:pPr>
            <a:r>
              <a:t>whether to expand.</a:t>
            </a:r>
          </a:p>
        </p:txBody>
      </p:sp>
      <p:sp>
        <p:nvSpPr>
          <p:cNvPr id="22" name="TextBox 21"/>
          <p:cNvSpPr txBox="1"/>
          <p:nvPr/>
        </p:nvSpPr>
        <p:spPr>
          <a:xfrm>
            <a:off x="533400" y="5778500"/>
            <a:ext cx="11176000" cy="356870"/>
          </a:xfrm>
          <a:prstGeom prst="rect">
            <a:avLst/>
          </a:prstGeom>
          <a:noFill/>
        </p:spPr>
        <p:txBody>
          <a:bodyPr wrap="none" lIns="0" rIns="0" tIns="0" bIns="0">
            <a:spAutoFit/>
          </a:bodyPr>
          <a:lstStyle/>
          <a:p>
            <a:pPr>
              <a:lnSpc>
                <a:spcPct val="130000"/>
              </a:lnSpc>
              <a:spcBef>
                <a:spcPts val="0"/>
              </a:spcBef>
              <a:spcAft>
                <a:spcPts val="0"/>
              </a:spcAft>
              <a:defRPr sz="1700" b="1">
                <a:solidFill>
                  <a:srgbClr val="D4F778"/>
                </a:solidFill>
                <a:latin typeface="DejaVu Sans"/>
              </a:defRPr>
            </a:pPr>
            <a:r>
              <a:t>Targets: ≥30% faster median checkout • ≥95% complete records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08 / BUSINESS CASE</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Start narrow. Earn the right to expand.</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Business hypothesis: a school subscription with supported onboarding.</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Commercial proposal • no validated pricing, paying customers or market-size claim</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08</a:t>
            </a:r>
          </a:p>
        </p:txBody>
      </p:sp>
      <p:sp>
        <p:nvSpPr>
          <p:cNvPr id="10" name="Rounded Rectangle 9"/>
          <p:cNvSpPr/>
          <p:nvPr/>
        </p:nvSpPr>
        <p:spPr>
          <a:xfrm>
            <a:off x="508000"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01</a:t>
            </a:r>
          </a:p>
        </p:txBody>
      </p:sp>
      <p:sp>
        <p:nvSpPr>
          <p:cNvPr id="12" name="TextBox 11"/>
          <p:cNvSpPr txBox="1"/>
          <p:nvPr/>
        </p:nvSpPr>
        <p:spPr>
          <a:xfrm>
            <a:off x="762000"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Buyer</a:t>
            </a:r>
          </a:p>
        </p:txBody>
      </p:sp>
      <p:sp>
        <p:nvSpPr>
          <p:cNvPr id="13" name="TextBox 12"/>
          <p:cNvSpPr txBox="1"/>
          <p:nvPr/>
        </p:nvSpPr>
        <p:spPr>
          <a:xfrm>
            <a:off x="762000"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School or department,</a:t>
            </a:r>
          </a:p>
          <a:p>
            <a:pPr>
              <a:lnSpc>
                <a:spcPct val="130000"/>
              </a:lnSpc>
              <a:spcBef>
                <a:spcPts val="0"/>
              </a:spcBef>
              <a:spcAft>
                <a:spcPts val="0"/>
              </a:spcAft>
              <a:defRPr sz="1600" b="0">
                <a:solidFill>
                  <a:srgbClr val="BDC6D5"/>
                </a:solidFill>
                <a:latin typeface="DejaVu Sans"/>
              </a:defRPr>
            </a:pPr>
            <a:r>
              <a:t>supported by a teacher</a:t>
            </a:r>
          </a:p>
          <a:p>
            <a:pPr>
              <a:lnSpc>
                <a:spcPct val="130000"/>
              </a:lnSpc>
              <a:spcBef>
                <a:spcPts val="0"/>
              </a:spcBef>
              <a:spcAft>
                <a:spcPts val="0"/>
              </a:spcAft>
              <a:defRPr sz="1600" b="0">
                <a:solidFill>
                  <a:srgbClr val="BDC6D5"/>
                </a:solidFill>
                <a:latin typeface="DejaVu Sans"/>
              </a:defRPr>
            </a:pPr>
            <a:r>
              <a:t>champion.</a:t>
            </a:r>
          </a:p>
        </p:txBody>
      </p:sp>
      <p:sp>
        <p:nvSpPr>
          <p:cNvPr id="14" name="Rounded Rectangle 13"/>
          <p:cNvSpPr/>
          <p:nvPr/>
        </p:nvSpPr>
        <p:spPr>
          <a:xfrm>
            <a:off x="4309533"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3533"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02</a:t>
            </a:r>
          </a:p>
        </p:txBody>
      </p:sp>
      <p:sp>
        <p:nvSpPr>
          <p:cNvPr id="16" name="TextBox 15"/>
          <p:cNvSpPr txBox="1"/>
          <p:nvPr/>
        </p:nvSpPr>
        <p:spPr>
          <a:xfrm>
            <a:off x="4563533" y="3073400"/>
            <a:ext cx="3115733" cy="83566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Revenue</a:t>
            </a:r>
          </a:p>
          <a:p>
            <a:pPr>
              <a:lnSpc>
                <a:spcPct val="130000"/>
              </a:lnSpc>
              <a:spcBef>
                <a:spcPts val="0"/>
              </a:spcBef>
              <a:spcAft>
                <a:spcPts val="0"/>
              </a:spcAft>
              <a:defRPr sz="2300" b="1">
                <a:solidFill>
                  <a:srgbClr val="F5F3ED"/>
                </a:solidFill>
                <a:latin typeface="DejaVu Sans"/>
              </a:defRPr>
            </a:pPr>
            <a:r>
              <a:t>hypothesis</a:t>
            </a:r>
          </a:p>
        </p:txBody>
      </p:sp>
      <p:sp>
        <p:nvSpPr>
          <p:cNvPr id="17" name="TextBox 16"/>
          <p:cNvSpPr txBox="1"/>
          <p:nvPr/>
        </p:nvSpPr>
        <p:spPr>
          <a:xfrm>
            <a:off x="4563533" y="3937000"/>
            <a:ext cx="3115733" cy="60452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Annual subscription; optional</a:t>
            </a:r>
          </a:p>
          <a:p>
            <a:pPr>
              <a:lnSpc>
                <a:spcPct val="130000"/>
              </a:lnSpc>
              <a:spcBef>
                <a:spcPts val="0"/>
              </a:spcBef>
              <a:spcAft>
                <a:spcPts val="0"/>
              </a:spcAft>
              <a:defRPr sz="1600" b="0">
                <a:solidFill>
                  <a:srgbClr val="BDC6D5"/>
                </a:solidFill>
                <a:latin typeface="DejaVu Sans"/>
              </a:defRPr>
            </a:pPr>
            <a:r>
              <a:t>tag and setup support.</a:t>
            </a:r>
          </a:p>
        </p:txBody>
      </p:sp>
      <p:sp>
        <p:nvSpPr>
          <p:cNvPr id="18" name="Rounded Rectangle 17"/>
          <p:cNvSpPr/>
          <p:nvPr/>
        </p:nvSpPr>
        <p:spPr>
          <a:xfrm>
            <a:off x="8111066" y="2425700"/>
            <a:ext cx="3572933" cy="29845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5066"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03</a:t>
            </a:r>
          </a:p>
        </p:txBody>
      </p:sp>
      <p:sp>
        <p:nvSpPr>
          <p:cNvPr id="20" name="TextBox 19"/>
          <p:cNvSpPr txBox="1"/>
          <p:nvPr/>
        </p:nvSpPr>
        <p:spPr>
          <a:xfrm>
            <a:off x="8365066"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Expansion</a:t>
            </a:r>
          </a:p>
        </p:txBody>
      </p:sp>
      <p:sp>
        <p:nvSpPr>
          <p:cNvPr id="21" name="TextBox 20"/>
          <p:cNvSpPr txBox="1"/>
          <p:nvPr/>
        </p:nvSpPr>
        <p:spPr>
          <a:xfrm>
            <a:off x="8365066"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One room → more</a:t>
            </a:r>
          </a:p>
          <a:p>
            <a:pPr>
              <a:lnSpc>
                <a:spcPct val="130000"/>
              </a:lnSpc>
              <a:spcBef>
                <a:spcPts val="0"/>
              </a:spcBef>
              <a:spcAft>
                <a:spcPts val="0"/>
              </a:spcAft>
              <a:defRPr sz="1600" b="0">
                <a:solidFill>
                  <a:srgbClr val="BDC6D5"/>
                </a:solidFill>
                <a:latin typeface="DejaVu Sans"/>
              </a:defRPr>
            </a:pPr>
            <a:r>
              <a:t>departments → additional</a:t>
            </a:r>
          </a:p>
          <a:p>
            <a:pPr>
              <a:lnSpc>
                <a:spcPct val="130000"/>
              </a:lnSpc>
              <a:spcBef>
                <a:spcPts val="0"/>
              </a:spcBef>
              <a:spcAft>
                <a:spcPts val="0"/>
              </a:spcAft>
              <a:defRPr sz="1600" b="0">
                <a:solidFill>
                  <a:srgbClr val="BDC6D5"/>
                </a:solidFill>
                <a:latin typeface="DejaVu Sans"/>
              </a:defRPr>
            </a:pPr>
            <a:r>
              <a:t>schools.</a:t>
            </a:r>
          </a:p>
        </p:txBody>
      </p:sp>
      <p:sp>
        <p:nvSpPr>
          <p:cNvPr id="22" name="TextBox 21"/>
          <p:cNvSpPr txBox="1"/>
          <p:nvPr/>
        </p:nvSpPr>
        <p:spPr>
          <a:xfrm>
            <a:off x="533400" y="5778500"/>
            <a:ext cx="11176000" cy="356870"/>
          </a:xfrm>
          <a:prstGeom prst="rect">
            <a:avLst/>
          </a:prstGeom>
          <a:noFill/>
        </p:spPr>
        <p:txBody>
          <a:bodyPr wrap="none" lIns="0" rIns="0" tIns="0" bIns="0">
            <a:spAutoFit/>
          </a:bodyPr>
          <a:lstStyle/>
          <a:p>
            <a:pPr>
              <a:lnSpc>
                <a:spcPct val="130000"/>
              </a:lnSpc>
              <a:spcBef>
                <a:spcPts val="0"/>
              </a:spcBef>
              <a:spcAft>
                <a:spcPts val="0"/>
              </a:spcAft>
              <a:defRPr sz="1700" b="1">
                <a:solidFill>
                  <a:srgbClr val="D4F778"/>
                </a:solidFill>
                <a:latin typeface="DejaVu Sans"/>
              </a:defRPr>
            </a:pPr>
            <a:r>
              <a:t>Next proof: repeat usage, willingness to pay and support cost per school.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09 / THE ASK</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Give us one room to prove the value.</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A focused pilot turns a working MVP into evidence.</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Ask: proposed pilot partnership • demo begins at 5:00</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09</a:t>
            </a:r>
          </a:p>
        </p:txBody>
      </p:sp>
      <p:sp>
        <p:nvSpPr>
          <p:cNvPr id="10" name="TextBox 9"/>
          <p:cNvSpPr txBox="1"/>
          <p:nvPr/>
        </p:nvSpPr>
        <p:spPr>
          <a:xfrm>
            <a:off x="571500" y="2590800"/>
            <a:ext cx="10909300" cy="786130"/>
          </a:xfrm>
          <a:prstGeom prst="rect">
            <a:avLst/>
          </a:prstGeom>
          <a:noFill/>
        </p:spPr>
        <p:txBody>
          <a:bodyPr wrap="none" lIns="0" rIns="0" tIns="0" bIns="0">
            <a:spAutoFit/>
          </a:bodyPr>
          <a:lstStyle/>
          <a:p>
            <a:pPr>
              <a:lnSpc>
                <a:spcPct val="130000"/>
              </a:lnSpc>
              <a:spcBef>
                <a:spcPts val="0"/>
              </a:spcBef>
              <a:spcAft>
                <a:spcPts val="0"/>
              </a:spcAft>
              <a:defRPr sz="4300" b="1">
                <a:solidFill>
                  <a:srgbClr val="D4F778"/>
                </a:solidFill>
                <a:latin typeface="DejaVu Sans"/>
              </a:defRPr>
            </a:pPr>
            <a:r>
              <a:t>1 room. 1 teacher. 4 weeks.</a:t>
            </a:r>
          </a:p>
        </p:txBody>
      </p:sp>
      <p:sp>
        <p:nvSpPr>
          <p:cNvPr id="11" name="TextBox 10"/>
          <p:cNvSpPr txBox="1"/>
          <p:nvPr/>
        </p:nvSpPr>
        <p:spPr>
          <a:xfrm>
            <a:off x="571500" y="3695700"/>
            <a:ext cx="10464800" cy="901700"/>
          </a:xfrm>
          <a:prstGeom prst="rect">
            <a:avLst/>
          </a:prstGeom>
          <a:noFill/>
        </p:spPr>
        <p:txBody>
          <a:bodyPr wrap="none" lIns="0" rIns="0" tIns="0" bIns="0">
            <a:spAutoFit/>
          </a:bodyPr>
          <a:lstStyle/>
          <a:p>
            <a:pPr>
              <a:lnSpc>
                <a:spcPct val="130000"/>
              </a:lnSpc>
              <a:spcBef>
                <a:spcPts val="0"/>
              </a:spcBef>
              <a:spcAft>
                <a:spcPts val="0"/>
              </a:spcAft>
              <a:defRPr sz="2500" b="0">
                <a:solidFill>
                  <a:srgbClr val="F5F3ED"/>
                </a:solidFill>
                <a:latin typeface="DejaVu Sans"/>
              </a:defRPr>
            </a:pPr>
            <a:r>
              <a:t>Deliverable: measured time savings, record quality and a clear</a:t>
            </a:r>
          </a:p>
          <a:p>
            <a:pPr>
              <a:lnSpc>
                <a:spcPct val="130000"/>
              </a:lnSpc>
              <a:spcBef>
                <a:spcPts val="0"/>
              </a:spcBef>
              <a:spcAft>
                <a:spcPts val="0"/>
              </a:spcAft>
              <a:defRPr sz="2500" b="0">
                <a:solidFill>
                  <a:srgbClr val="F5F3ED"/>
                </a:solidFill>
                <a:latin typeface="DejaVu Sans"/>
              </a:defRPr>
            </a:pPr>
            <a:r>
              <a:t>go / no-go decision.</a:t>
            </a:r>
          </a:p>
        </p:txBody>
      </p:sp>
      <p:sp>
        <p:nvSpPr>
          <p:cNvPr id="12" name="TextBox 11"/>
          <p:cNvSpPr txBox="1"/>
          <p:nvPr/>
        </p:nvSpPr>
        <p:spPr>
          <a:xfrm>
            <a:off x="571500" y="5168900"/>
            <a:ext cx="10464800" cy="373380"/>
          </a:xfrm>
          <a:prstGeom prst="rect">
            <a:avLst/>
          </a:prstGeom>
          <a:noFill/>
        </p:spPr>
        <p:txBody>
          <a:bodyPr wrap="none" lIns="0" rIns="0" tIns="0" bIns="0">
            <a:spAutoFit/>
          </a:bodyPr>
          <a:lstStyle/>
          <a:p>
            <a:pPr>
              <a:lnSpc>
                <a:spcPct val="130000"/>
              </a:lnSpc>
              <a:spcBef>
                <a:spcPts val="0"/>
              </a:spcBef>
              <a:spcAft>
                <a:spcPts val="0"/>
              </a:spcAft>
              <a:defRPr sz="1800" b="1">
                <a:solidFill>
                  <a:srgbClr val="C3B5FD"/>
                </a:solidFill>
                <a:latin typeface="DejaVu Sans"/>
              </a:defRPr>
            </a:pPr>
            <a:r>
              <a:t>NEXT / Watch one student checkout become a teacher-confirmed return.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DEMO / KEEP THIS SLIDE ON SCREEN</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Three minutes. One complete handover.</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Show the record changing, not every menu in the app.</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Use prepared demo inventory; local demo proves UI flow, not cross-device sync</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10</a:t>
            </a:r>
          </a:p>
        </p:txBody>
      </p:sp>
      <p:sp>
        <p:nvSpPr>
          <p:cNvPr id="10" name="Rounded Rectangle 9"/>
          <p:cNvSpPr/>
          <p:nvPr/>
        </p:nvSpPr>
        <p:spPr>
          <a:xfrm>
            <a:off x="508000" y="2654300"/>
            <a:ext cx="2527300" cy="2146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28829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0:00–1:00</a:t>
            </a:r>
          </a:p>
        </p:txBody>
      </p:sp>
      <p:sp>
        <p:nvSpPr>
          <p:cNvPr id="12" name="TextBox 11"/>
          <p:cNvSpPr txBox="1"/>
          <p:nvPr/>
        </p:nvSpPr>
        <p:spPr>
          <a:xfrm>
            <a:off x="698500" y="34290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Student + two items</a:t>
            </a:r>
          </a:p>
          <a:p>
            <a:pPr>
              <a:lnSpc>
                <a:spcPct val="130000"/>
              </a:lnSpc>
              <a:spcBef>
                <a:spcPts val="0"/>
              </a:spcBef>
              <a:spcAft>
                <a:spcPts val="0"/>
              </a:spcAft>
              <a:defRPr sz="1500" b="0">
                <a:solidFill>
                  <a:srgbClr val="F5F3ED"/>
                </a:solidFill>
                <a:latin typeface="DejaVu Sans"/>
              </a:defRPr>
            </a:pPr>
            <a:r>
              <a:t>Scan into staging</a:t>
            </a:r>
          </a:p>
        </p:txBody>
      </p:sp>
      <p:sp>
        <p:nvSpPr>
          <p:cNvPr id="13" name="TextBox 12"/>
          <p:cNvSpPr txBox="1"/>
          <p:nvPr/>
        </p:nvSpPr>
        <p:spPr>
          <a:xfrm>
            <a:off x="3098800" y="33528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14" name="Rounded Rectangle 13"/>
          <p:cNvSpPr/>
          <p:nvPr/>
        </p:nvSpPr>
        <p:spPr>
          <a:xfrm>
            <a:off x="3390900" y="2654300"/>
            <a:ext cx="2527300" cy="2146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1400" y="28829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1:00–1:35</a:t>
            </a:r>
          </a:p>
        </p:txBody>
      </p:sp>
      <p:sp>
        <p:nvSpPr>
          <p:cNvPr id="16" name="TextBox 15"/>
          <p:cNvSpPr txBox="1"/>
          <p:nvPr/>
        </p:nvSpPr>
        <p:spPr>
          <a:xfrm>
            <a:off x="3581400" y="34290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Report condition</a:t>
            </a:r>
          </a:p>
          <a:p>
            <a:pPr>
              <a:lnSpc>
                <a:spcPct val="130000"/>
              </a:lnSpc>
              <a:spcBef>
                <a:spcPts val="0"/>
              </a:spcBef>
              <a:spcAft>
                <a:spcPts val="0"/>
              </a:spcAft>
              <a:defRPr sz="1500" b="0">
                <a:solidFill>
                  <a:srgbClr val="F5F3ED"/>
                </a:solidFill>
                <a:latin typeface="DejaVu Sans"/>
              </a:defRPr>
            </a:pPr>
            <a:r>
              <a:t>Confirm + receipt</a:t>
            </a:r>
          </a:p>
        </p:txBody>
      </p:sp>
      <p:sp>
        <p:nvSpPr>
          <p:cNvPr id="17" name="TextBox 16"/>
          <p:cNvSpPr txBox="1"/>
          <p:nvPr/>
        </p:nvSpPr>
        <p:spPr>
          <a:xfrm>
            <a:off x="5981700" y="33528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18" name="Rounded Rectangle 17"/>
          <p:cNvSpPr/>
          <p:nvPr/>
        </p:nvSpPr>
        <p:spPr>
          <a:xfrm>
            <a:off x="6273800" y="2654300"/>
            <a:ext cx="2527300" cy="2146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300" y="28829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1:35–2:20</a:t>
            </a:r>
          </a:p>
        </p:txBody>
      </p:sp>
      <p:sp>
        <p:nvSpPr>
          <p:cNvPr id="20" name="TextBox 19"/>
          <p:cNvSpPr txBox="1"/>
          <p:nvPr/>
        </p:nvSpPr>
        <p:spPr>
          <a:xfrm>
            <a:off x="6464300" y="34290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Teacher reviews</a:t>
            </a:r>
          </a:p>
          <a:p>
            <a:pPr>
              <a:lnSpc>
                <a:spcPct val="130000"/>
              </a:lnSpc>
              <a:spcBef>
                <a:spcPts val="0"/>
              </a:spcBef>
              <a:spcAft>
                <a:spcPts val="0"/>
              </a:spcAft>
              <a:defRPr sz="1500" b="0">
                <a:solidFill>
                  <a:srgbClr val="F5F3ED"/>
                </a:solidFill>
                <a:latin typeface="DejaVu Sans"/>
              </a:defRPr>
            </a:pPr>
            <a:r>
              <a:t>Confirm return</a:t>
            </a:r>
          </a:p>
        </p:txBody>
      </p:sp>
      <p:sp>
        <p:nvSpPr>
          <p:cNvPr id="21" name="TextBox 20"/>
          <p:cNvSpPr txBox="1"/>
          <p:nvPr/>
        </p:nvSpPr>
        <p:spPr>
          <a:xfrm>
            <a:off x="8864600" y="33528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22" name="Rounded Rectangle 21"/>
          <p:cNvSpPr/>
          <p:nvPr/>
        </p:nvSpPr>
        <p:spPr>
          <a:xfrm>
            <a:off x="9156700" y="2654300"/>
            <a:ext cx="2527300" cy="2146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47200" y="28829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2:20–3:00</a:t>
            </a:r>
          </a:p>
        </p:txBody>
      </p:sp>
      <p:sp>
        <p:nvSpPr>
          <p:cNvPr id="24" name="TextBox 23"/>
          <p:cNvSpPr txBox="1"/>
          <p:nvPr/>
        </p:nvSpPr>
        <p:spPr>
          <a:xfrm>
            <a:off x="9347200" y="34290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History + issue</a:t>
            </a:r>
          </a:p>
          <a:p>
            <a:pPr>
              <a:lnSpc>
                <a:spcPct val="130000"/>
              </a:lnSpc>
              <a:spcBef>
                <a:spcPts val="0"/>
              </a:spcBef>
              <a:spcAft>
                <a:spcPts val="0"/>
              </a:spcAft>
              <a:defRPr sz="1500" b="0">
                <a:solidFill>
                  <a:srgbClr val="F5F3ED"/>
                </a:solidFill>
                <a:latin typeface="DejaVu Sans"/>
              </a:defRPr>
            </a:pPr>
            <a:r>
              <a:t>Explain next action</a:t>
            </a:r>
          </a:p>
        </p:txBody>
      </p:sp>
      <p:sp>
        <p:nvSpPr>
          <p:cNvPr id="25" name="TextBox 24"/>
          <p:cNvSpPr txBox="1"/>
          <p:nvPr/>
        </p:nvSpPr>
        <p:spPr>
          <a:xfrm>
            <a:off x="533400" y="5778500"/>
            <a:ext cx="11176000" cy="356870"/>
          </a:xfrm>
          <a:prstGeom prst="rect">
            <a:avLst/>
          </a:prstGeom>
          <a:noFill/>
        </p:spPr>
        <p:txBody>
          <a:bodyPr wrap="none" lIns="0" rIns="0" tIns="0" bIns="0">
            <a:spAutoFit/>
          </a:bodyPr>
          <a:lstStyle/>
          <a:p>
            <a:pPr>
              <a:lnSpc>
                <a:spcPct val="130000"/>
              </a:lnSpc>
              <a:spcBef>
                <a:spcPts val="0"/>
              </a:spcBef>
              <a:spcAft>
                <a:spcPts val="0"/>
              </a:spcAft>
              <a:defRPr sz="1700" b="1">
                <a:solidFill>
                  <a:srgbClr val="D4F778"/>
                </a:solidFill>
                <a:latin typeface="DejaVu Sans"/>
              </a:defRPr>
            </a:pPr>
            <a:r>
              <a:t>Success: the audience sees who borrowed it, its condition and its return.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APPENDIX A / TECHNICAL DEPTH</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Identity stays stable when tags change.</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Simplified data relationships; names follow the Firebase implementation.</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Sources: Domain.swift • FirebaseGateway.swift • firebase/firestore.rules</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11</a:t>
            </a:r>
          </a:p>
        </p:txBody>
      </p:sp>
      <p:sp>
        <p:nvSpPr>
          <p:cNvPr id="10" name="Rounded Rectangle 9"/>
          <p:cNvSpPr/>
          <p:nvPr/>
        </p:nvSpPr>
        <p:spPr>
          <a:xfrm>
            <a:off x="508000" y="2463800"/>
            <a:ext cx="2527300" cy="19177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26924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tags</a:t>
            </a:r>
          </a:p>
        </p:txBody>
      </p:sp>
      <p:sp>
        <p:nvSpPr>
          <p:cNvPr id="12" name="TextBox 11"/>
          <p:cNvSpPr txBox="1"/>
          <p:nvPr/>
        </p:nvSpPr>
        <p:spPr>
          <a:xfrm>
            <a:off x="698500" y="32385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equipmentId</a:t>
            </a:r>
          </a:p>
          <a:p>
            <a:pPr>
              <a:lnSpc>
                <a:spcPct val="130000"/>
              </a:lnSpc>
              <a:spcBef>
                <a:spcPts val="0"/>
              </a:spcBef>
              <a:spcAft>
                <a:spcPts val="0"/>
              </a:spcAft>
              <a:defRPr sz="1500" b="0">
                <a:solidFill>
                  <a:srgbClr val="F5F3ED"/>
                </a:solidFill>
                <a:latin typeface="DejaVu Sans"/>
              </a:defRPr>
            </a:pPr>
            <a:r>
              <a:t>status</a:t>
            </a:r>
          </a:p>
        </p:txBody>
      </p:sp>
      <p:sp>
        <p:nvSpPr>
          <p:cNvPr id="13" name="TextBox 12"/>
          <p:cNvSpPr txBox="1"/>
          <p:nvPr/>
        </p:nvSpPr>
        <p:spPr>
          <a:xfrm>
            <a:off x="3098800" y="31623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14" name="Rounded Rectangle 13"/>
          <p:cNvSpPr/>
          <p:nvPr/>
        </p:nvSpPr>
        <p:spPr>
          <a:xfrm>
            <a:off x="3390900" y="2463800"/>
            <a:ext cx="2527300" cy="19177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1400" y="26924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equipment</a:t>
            </a:r>
          </a:p>
        </p:txBody>
      </p:sp>
      <p:sp>
        <p:nvSpPr>
          <p:cNvPr id="16" name="TextBox 15"/>
          <p:cNvSpPr txBox="1"/>
          <p:nvPr/>
        </p:nvSpPr>
        <p:spPr>
          <a:xfrm>
            <a:off x="3581400" y="32385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name + serial</a:t>
            </a:r>
          </a:p>
          <a:p>
            <a:pPr>
              <a:lnSpc>
                <a:spcPct val="130000"/>
              </a:lnSpc>
              <a:spcBef>
                <a:spcPts val="0"/>
              </a:spcBef>
              <a:spcAft>
                <a:spcPts val="0"/>
              </a:spcAft>
              <a:defRPr sz="1500" b="0">
                <a:solidFill>
                  <a:srgbClr val="F5F3ED"/>
                </a:solidFill>
                <a:latin typeface="DejaVu Sans"/>
              </a:defRPr>
            </a:pPr>
            <a:r>
              <a:t>stable identity</a:t>
            </a:r>
          </a:p>
        </p:txBody>
      </p:sp>
      <p:sp>
        <p:nvSpPr>
          <p:cNvPr id="17" name="TextBox 16"/>
          <p:cNvSpPr txBox="1"/>
          <p:nvPr/>
        </p:nvSpPr>
        <p:spPr>
          <a:xfrm>
            <a:off x="5981700" y="31623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18" name="Rounded Rectangle 17"/>
          <p:cNvSpPr/>
          <p:nvPr/>
        </p:nvSpPr>
        <p:spPr>
          <a:xfrm>
            <a:off x="6273800" y="2463800"/>
            <a:ext cx="2527300" cy="19177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300" y="26924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claims</a:t>
            </a:r>
          </a:p>
        </p:txBody>
      </p:sp>
      <p:sp>
        <p:nvSpPr>
          <p:cNvPr id="20" name="TextBox 19"/>
          <p:cNvSpPr txBox="1"/>
          <p:nvPr/>
        </p:nvSpPr>
        <p:spPr>
          <a:xfrm>
            <a:off x="6464300" y="32385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student + item</a:t>
            </a:r>
          </a:p>
          <a:p>
            <a:pPr>
              <a:lnSpc>
                <a:spcPct val="130000"/>
              </a:lnSpc>
              <a:spcBef>
                <a:spcPts val="0"/>
              </a:spcBef>
              <a:spcAft>
                <a:spcPts val="0"/>
              </a:spcAft>
              <a:defRPr sz="1500" b="0">
                <a:solidFill>
                  <a:srgbClr val="F5F3ED"/>
                </a:solidFill>
                <a:latin typeface="DejaVu Sans"/>
              </a:defRPr>
            </a:pPr>
            <a:r>
              <a:t>condition + status</a:t>
            </a:r>
          </a:p>
        </p:txBody>
      </p:sp>
      <p:sp>
        <p:nvSpPr>
          <p:cNvPr id="21" name="TextBox 20"/>
          <p:cNvSpPr txBox="1"/>
          <p:nvPr/>
        </p:nvSpPr>
        <p:spPr>
          <a:xfrm>
            <a:off x="8864600" y="31623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22" name="Rounded Rectangle 21"/>
          <p:cNvSpPr/>
          <p:nvPr/>
        </p:nvSpPr>
        <p:spPr>
          <a:xfrm>
            <a:off x="9156700" y="2463800"/>
            <a:ext cx="2527300" cy="19177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47200" y="2692400"/>
            <a:ext cx="2197100"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issues</a:t>
            </a:r>
          </a:p>
        </p:txBody>
      </p:sp>
      <p:sp>
        <p:nvSpPr>
          <p:cNvPr id="24" name="TextBox 23"/>
          <p:cNvSpPr txBox="1"/>
          <p:nvPr/>
        </p:nvSpPr>
        <p:spPr>
          <a:xfrm>
            <a:off x="9347200" y="3238500"/>
            <a:ext cx="2197100"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claim + item</a:t>
            </a:r>
          </a:p>
          <a:p>
            <a:pPr>
              <a:lnSpc>
                <a:spcPct val="130000"/>
              </a:lnSpc>
              <a:spcBef>
                <a:spcPts val="0"/>
              </a:spcBef>
              <a:spcAft>
                <a:spcPts val="0"/>
              </a:spcAft>
              <a:defRPr sz="1500" b="0">
                <a:solidFill>
                  <a:srgbClr val="F5F3ED"/>
                </a:solidFill>
                <a:latin typeface="DejaVu Sans"/>
              </a:defRPr>
            </a:pPr>
            <a:r>
              <a:t>open → resolved</a:t>
            </a:r>
          </a:p>
        </p:txBody>
      </p:sp>
      <p:sp>
        <p:nvSpPr>
          <p:cNvPr id="25" name="TextBox 24"/>
          <p:cNvSpPr txBox="1"/>
          <p:nvPr/>
        </p:nvSpPr>
        <p:spPr>
          <a:xfrm>
            <a:off x="635000" y="4724400"/>
            <a:ext cx="10972800" cy="472440"/>
          </a:xfrm>
          <a:prstGeom prst="rect">
            <a:avLst/>
          </a:prstGeom>
          <a:noFill/>
        </p:spPr>
        <p:txBody>
          <a:bodyPr wrap="none" lIns="0" rIns="0" tIns="0" bIns="0">
            <a:spAutoFit/>
          </a:bodyPr>
          <a:lstStyle/>
          <a:p>
            <a:pPr>
              <a:lnSpc>
                <a:spcPct val="130000"/>
              </a:lnSpc>
              <a:spcBef>
                <a:spcPts val="0"/>
              </a:spcBef>
              <a:spcAft>
                <a:spcPts val="0"/>
              </a:spcAft>
              <a:defRPr sz="2400" b="1">
                <a:solidFill>
                  <a:srgbClr val="C3B5FD"/>
                </a:solidFill>
                <a:latin typeface="DejaVu Sans"/>
              </a:defRPr>
            </a:pPr>
            <a:r>
              <a:t>checkoutBatches → claims ← returnBatches</a:t>
            </a:r>
          </a:p>
        </p:txBody>
      </p:sp>
      <p:sp>
        <p:nvSpPr>
          <p:cNvPr id="26" name="TextBox 25"/>
          <p:cNvSpPr txBox="1"/>
          <p:nvPr/>
        </p:nvSpPr>
        <p:spPr>
          <a:xfrm>
            <a:off x="635000" y="5384800"/>
            <a:ext cx="10845800" cy="356870"/>
          </a:xfrm>
          <a:prstGeom prst="rect">
            <a:avLst/>
          </a:prstGeom>
          <a:noFill/>
        </p:spPr>
        <p:txBody>
          <a:bodyPr wrap="none" lIns="0" rIns="0" tIns="0" bIns="0">
            <a:spAutoFit/>
          </a:bodyPr>
          <a:lstStyle/>
          <a:p>
            <a:pPr>
              <a:lnSpc>
                <a:spcPct val="130000"/>
              </a:lnSpc>
              <a:spcBef>
                <a:spcPts val="0"/>
              </a:spcBef>
              <a:spcAft>
                <a:spcPts val="0"/>
              </a:spcAft>
              <a:defRPr sz="1700" b="0">
                <a:solidFill>
                  <a:srgbClr val="BDC6D5"/>
                </a:solidFill>
                <a:latin typeface="DejaVu Sans"/>
              </a:defRPr>
            </a:pPr>
            <a:r>
              <a:t>Tag replacement preserves history. Multiple active claims are currently allowed.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APPENDIX B / TRUST BOUNDARIES</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Two access paths. Two enforcement points.</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Mobile database access and privileged operations access must both be secured.</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Sources: firebase/firestore.rules • dashboard/src/worker/auth.ts • ops.ts</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12</a:t>
            </a:r>
          </a:p>
        </p:txBody>
      </p:sp>
      <p:sp>
        <p:nvSpPr>
          <p:cNvPr id="10" name="Rounded Rectangle 9"/>
          <p:cNvSpPr/>
          <p:nvPr/>
        </p:nvSpPr>
        <p:spPr>
          <a:xfrm>
            <a:off x="508000" y="2324100"/>
            <a:ext cx="3488266" cy="16637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2552700"/>
            <a:ext cx="3158066"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Student / teacher</a:t>
            </a:r>
          </a:p>
        </p:txBody>
      </p:sp>
      <p:sp>
        <p:nvSpPr>
          <p:cNvPr id="12" name="TextBox 11"/>
          <p:cNvSpPr txBox="1"/>
          <p:nvPr/>
        </p:nvSpPr>
        <p:spPr>
          <a:xfrm>
            <a:off x="698500" y="3098800"/>
            <a:ext cx="3158066"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Google identity</a:t>
            </a:r>
          </a:p>
          <a:p>
            <a:pPr>
              <a:lnSpc>
                <a:spcPct val="130000"/>
              </a:lnSpc>
              <a:spcBef>
                <a:spcPts val="0"/>
              </a:spcBef>
              <a:spcAft>
                <a:spcPts val="0"/>
              </a:spcAft>
              <a:defRPr sz="1500" b="0">
                <a:solidFill>
                  <a:srgbClr val="F5F3ED"/>
                </a:solidFill>
                <a:latin typeface="DejaVu Sans"/>
              </a:defRPr>
            </a:pPr>
            <a:r>
              <a:t>Native client</a:t>
            </a:r>
          </a:p>
        </p:txBody>
      </p:sp>
      <p:sp>
        <p:nvSpPr>
          <p:cNvPr id="13" name="TextBox 12"/>
          <p:cNvSpPr txBox="1"/>
          <p:nvPr/>
        </p:nvSpPr>
        <p:spPr>
          <a:xfrm>
            <a:off x="4059766" y="30226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14" name="Rounded Rectangle 13"/>
          <p:cNvSpPr/>
          <p:nvPr/>
        </p:nvSpPr>
        <p:spPr>
          <a:xfrm>
            <a:off x="4351866" y="2324100"/>
            <a:ext cx="3488266" cy="16637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2366" y="2552700"/>
            <a:ext cx="3158066"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Firestore Rules</a:t>
            </a:r>
          </a:p>
        </p:txBody>
      </p:sp>
      <p:sp>
        <p:nvSpPr>
          <p:cNvPr id="16" name="TextBox 15"/>
          <p:cNvSpPr txBox="1"/>
          <p:nvPr/>
        </p:nvSpPr>
        <p:spPr>
          <a:xfrm>
            <a:off x="4542366" y="3098800"/>
            <a:ext cx="3158066"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Role + ownership</a:t>
            </a:r>
          </a:p>
          <a:p>
            <a:pPr>
              <a:lnSpc>
                <a:spcPct val="130000"/>
              </a:lnSpc>
              <a:spcBef>
                <a:spcPts val="0"/>
              </a:spcBef>
              <a:spcAft>
                <a:spcPts val="0"/>
              </a:spcAft>
              <a:defRPr sz="1500" b="0">
                <a:solidFill>
                  <a:srgbClr val="F5F3ED"/>
                </a:solidFill>
                <a:latin typeface="DejaVu Sans"/>
              </a:defRPr>
            </a:pPr>
            <a:r>
              <a:t>Schema + state</a:t>
            </a:r>
          </a:p>
        </p:txBody>
      </p:sp>
      <p:sp>
        <p:nvSpPr>
          <p:cNvPr id="17" name="TextBox 16"/>
          <p:cNvSpPr txBox="1"/>
          <p:nvPr/>
        </p:nvSpPr>
        <p:spPr>
          <a:xfrm>
            <a:off x="7903633" y="30226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18" name="Rounded Rectangle 17"/>
          <p:cNvSpPr/>
          <p:nvPr/>
        </p:nvSpPr>
        <p:spPr>
          <a:xfrm>
            <a:off x="8195733" y="2324100"/>
            <a:ext cx="3488266" cy="16637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6233" y="2552700"/>
            <a:ext cx="3158066"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Firestore</a:t>
            </a:r>
          </a:p>
        </p:txBody>
      </p:sp>
      <p:sp>
        <p:nvSpPr>
          <p:cNvPr id="20" name="TextBox 19"/>
          <p:cNvSpPr txBox="1"/>
          <p:nvPr/>
        </p:nvSpPr>
        <p:spPr>
          <a:xfrm>
            <a:off x="8386233" y="3098800"/>
            <a:ext cx="3158066"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Equipment</a:t>
            </a:r>
          </a:p>
          <a:p>
            <a:pPr>
              <a:lnSpc>
                <a:spcPct val="130000"/>
              </a:lnSpc>
              <a:spcBef>
                <a:spcPts val="0"/>
              </a:spcBef>
              <a:spcAft>
                <a:spcPts val="0"/>
              </a:spcAft>
              <a:defRPr sz="1500" b="0">
                <a:solidFill>
                  <a:srgbClr val="F5F3ED"/>
                </a:solidFill>
                <a:latin typeface="DejaVu Sans"/>
              </a:defRPr>
            </a:pPr>
            <a:r>
              <a:t>Claims + issues</a:t>
            </a:r>
          </a:p>
        </p:txBody>
      </p:sp>
      <p:sp>
        <p:nvSpPr>
          <p:cNvPr id="21" name="Rounded Rectangle 20"/>
          <p:cNvSpPr/>
          <p:nvPr/>
        </p:nvSpPr>
        <p:spPr>
          <a:xfrm>
            <a:off x="508000" y="4292600"/>
            <a:ext cx="3488266" cy="16637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8500" y="4521200"/>
            <a:ext cx="3158066"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Staff browser</a:t>
            </a:r>
          </a:p>
        </p:txBody>
      </p:sp>
      <p:sp>
        <p:nvSpPr>
          <p:cNvPr id="23" name="TextBox 22"/>
          <p:cNvSpPr txBox="1"/>
          <p:nvPr/>
        </p:nvSpPr>
        <p:spPr>
          <a:xfrm>
            <a:off x="698500" y="5067300"/>
            <a:ext cx="3158066"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Google sign-in</a:t>
            </a:r>
          </a:p>
          <a:p>
            <a:pPr>
              <a:lnSpc>
                <a:spcPct val="130000"/>
              </a:lnSpc>
              <a:spcBef>
                <a:spcPts val="0"/>
              </a:spcBef>
              <a:spcAft>
                <a:spcPts val="0"/>
              </a:spcAft>
              <a:defRPr sz="1500" b="0">
                <a:solidFill>
                  <a:srgbClr val="F5F3ED"/>
                </a:solidFill>
                <a:latin typeface="DejaVu Sans"/>
              </a:defRPr>
            </a:pPr>
            <a:r>
              <a:t>Session cookie</a:t>
            </a:r>
          </a:p>
        </p:txBody>
      </p:sp>
      <p:sp>
        <p:nvSpPr>
          <p:cNvPr id="24" name="TextBox 23"/>
          <p:cNvSpPr txBox="1"/>
          <p:nvPr/>
        </p:nvSpPr>
        <p:spPr>
          <a:xfrm>
            <a:off x="4059766" y="49911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25" name="Rounded Rectangle 24"/>
          <p:cNvSpPr/>
          <p:nvPr/>
        </p:nvSpPr>
        <p:spPr>
          <a:xfrm>
            <a:off x="4351866" y="4292600"/>
            <a:ext cx="3488266" cy="16637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2366" y="4521200"/>
            <a:ext cx="3158066"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Cloudflare Worker</a:t>
            </a:r>
          </a:p>
        </p:txBody>
      </p:sp>
      <p:sp>
        <p:nvSpPr>
          <p:cNvPr id="27" name="TextBox 26"/>
          <p:cNvSpPr txBox="1"/>
          <p:nvPr/>
        </p:nvSpPr>
        <p:spPr>
          <a:xfrm>
            <a:off x="4542366" y="5067300"/>
            <a:ext cx="3158066"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Authorize + validate</a:t>
            </a:r>
          </a:p>
          <a:p>
            <a:pPr>
              <a:lnSpc>
                <a:spcPct val="130000"/>
              </a:lnSpc>
              <a:spcBef>
                <a:spcPts val="0"/>
              </a:spcBef>
              <a:spcAft>
                <a:spcPts val="0"/>
              </a:spcAft>
              <a:defRPr sz="1500" b="0">
                <a:solidFill>
                  <a:srgbClr val="F5F3ED"/>
                </a:solidFill>
                <a:latin typeface="DejaVu Sans"/>
              </a:defRPr>
            </a:pPr>
            <a:r>
              <a:t>Server-held credential</a:t>
            </a:r>
          </a:p>
        </p:txBody>
      </p:sp>
      <p:sp>
        <p:nvSpPr>
          <p:cNvPr id="28" name="TextBox 27"/>
          <p:cNvSpPr txBox="1"/>
          <p:nvPr/>
        </p:nvSpPr>
        <p:spPr>
          <a:xfrm>
            <a:off x="7903633" y="4991100"/>
            <a:ext cx="355600" cy="406400"/>
          </a:xfrm>
          <a:prstGeom prst="rect">
            <a:avLst/>
          </a:prstGeom>
          <a:noFill/>
        </p:spPr>
        <p:txBody>
          <a:bodyPr wrap="none" lIns="0" rIns="0" tIns="0" bIns="0">
            <a:spAutoFit/>
          </a:bodyPr>
          <a:lstStyle/>
          <a:p>
            <a:pPr>
              <a:lnSpc>
                <a:spcPct val="130000"/>
              </a:lnSpc>
              <a:spcBef>
                <a:spcPts val="0"/>
              </a:spcBef>
              <a:spcAft>
                <a:spcPts val="0"/>
              </a:spcAft>
              <a:defRPr sz="2000" b="1">
                <a:solidFill>
                  <a:srgbClr val="C3B5FD"/>
                </a:solidFill>
                <a:latin typeface="DejaVu Sans"/>
              </a:defRPr>
            </a:pPr>
            <a:r>
              <a:t>→</a:t>
            </a:r>
          </a:p>
        </p:txBody>
      </p:sp>
      <p:sp>
        <p:nvSpPr>
          <p:cNvPr id="29" name="Rounded Rectangle 28"/>
          <p:cNvSpPr/>
          <p:nvPr/>
        </p:nvSpPr>
        <p:spPr>
          <a:xfrm>
            <a:off x="8195733" y="4292600"/>
            <a:ext cx="3488266" cy="16637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6233" y="4521200"/>
            <a:ext cx="3158066" cy="389890"/>
          </a:xfrm>
          <a:prstGeom prst="rect">
            <a:avLst/>
          </a:prstGeom>
          <a:noFill/>
        </p:spPr>
        <p:txBody>
          <a:bodyPr wrap="none" lIns="0" rIns="0" tIns="0" bIns="0">
            <a:spAutoFit/>
          </a:bodyPr>
          <a:lstStyle/>
          <a:p>
            <a:pPr>
              <a:lnSpc>
                <a:spcPct val="130000"/>
              </a:lnSpc>
              <a:spcBef>
                <a:spcPts val="0"/>
              </a:spcBef>
              <a:spcAft>
                <a:spcPts val="0"/>
              </a:spcAft>
              <a:defRPr sz="1900" b="1">
                <a:solidFill>
                  <a:srgbClr val="D4F778"/>
                </a:solidFill>
                <a:latin typeface="DejaVu Sans"/>
              </a:defRPr>
            </a:pPr>
            <a:r>
              <a:t>Firestore</a:t>
            </a:r>
          </a:p>
        </p:txBody>
      </p:sp>
      <p:sp>
        <p:nvSpPr>
          <p:cNvPr id="31" name="TextBox 30"/>
          <p:cNvSpPr txBox="1"/>
          <p:nvPr/>
        </p:nvSpPr>
        <p:spPr>
          <a:xfrm>
            <a:off x="8386233" y="5067300"/>
            <a:ext cx="3158066"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Privileged ops</a:t>
            </a:r>
          </a:p>
          <a:p>
            <a:pPr>
              <a:lnSpc>
                <a:spcPct val="130000"/>
              </a:lnSpc>
              <a:spcBef>
                <a:spcPts val="0"/>
              </a:spcBef>
              <a:spcAft>
                <a:spcPts val="0"/>
              </a:spcAft>
              <a:defRPr sz="1500" b="0">
                <a:solidFill>
                  <a:srgbClr val="F5F3ED"/>
                </a:solidFill>
                <a:latin typeface="DejaVu Sans"/>
              </a:defRPr>
            </a:pPr>
            <a:r>
              <a:t>Mutation audit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APPENDIX C / HONEST SCOPE</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An MVP with clear limits.</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These constraints define the next engineering work.</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Sources: docs/production-integration.md • docs/mvp-verification.md • README.md</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13</a:t>
            </a:r>
          </a:p>
        </p:txBody>
      </p:sp>
      <p:sp>
        <p:nvSpPr>
          <p:cNvPr id="10" name="Rounded Rectangle 9"/>
          <p:cNvSpPr/>
          <p:nvPr/>
        </p:nvSpPr>
        <p:spPr>
          <a:xfrm>
            <a:off x="508000" y="2425700"/>
            <a:ext cx="3572933" cy="316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01</a:t>
            </a:r>
          </a:p>
        </p:txBody>
      </p:sp>
      <p:sp>
        <p:nvSpPr>
          <p:cNvPr id="12" name="TextBox 11"/>
          <p:cNvSpPr txBox="1"/>
          <p:nvPr/>
        </p:nvSpPr>
        <p:spPr>
          <a:xfrm>
            <a:off x="762000"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Connectivity</a:t>
            </a:r>
          </a:p>
        </p:txBody>
      </p:sp>
      <p:sp>
        <p:nvSpPr>
          <p:cNvPr id="13" name="TextBox 12"/>
          <p:cNvSpPr txBox="1"/>
          <p:nvPr/>
        </p:nvSpPr>
        <p:spPr>
          <a:xfrm>
            <a:off x="762000"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Confirmation requires</a:t>
            </a:r>
          </a:p>
          <a:p>
            <a:pPr>
              <a:lnSpc>
                <a:spcPct val="130000"/>
              </a:lnSpc>
              <a:spcBef>
                <a:spcPts val="0"/>
              </a:spcBef>
              <a:spcAft>
                <a:spcPts val="0"/>
              </a:spcAft>
              <a:defRPr sz="1600" b="0">
                <a:solidFill>
                  <a:srgbClr val="BDC6D5"/>
                </a:solidFill>
                <a:latin typeface="DejaVu Sans"/>
              </a:defRPr>
            </a:pPr>
            <a:r>
              <a:t>internet. Overdue checks run</a:t>
            </a:r>
          </a:p>
          <a:p>
            <a:pPr>
              <a:lnSpc>
                <a:spcPct val="130000"/>
              </a:lnSpc>
              <a:spcBef>
                <a:spcPts val="0"/>
              </a:spcBef>
              <a:spcAft>
                <a:spcPts val="0"/>
              </a:spcAft>
              <a:defRPr sz="1600" b="0">
                <a:solidFill>
                  <a:srgbClr val="BDC6D5"/>
                </a:solidFill>
                <a:latin typeface="DejaVu Sans"/>
              </a:defRPr>
            </a:pPr>
            <a:r>
              <a:t>in-app.</a:t>
            </a:r>
          </a:p>
        </p:txBody>
      </p:sp>
      <p:sp>
        <p:nvSpPr>
          <p:cNvPr id="14" name="Rounded Rectangle 13"/>
          <p:cNvSpPr/>
          <p:nvPr/>
        </p:nvSpPr>
        <p:spPr>
          <a:xfrm>
            <a:off x="4309533" y="2425700"/>
            <a:ext cx="3572933" cy="316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3533"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02</a:t>
            </a:r>
          </a:p>
        </p:txBody>
      </p:sp>
      <p:sp>
        <p:nvSpPr>
          <p:cNvPr id="16" name="TextBox 15"/>
          <p:cNvSpPr txBox="1"/>
          <p:nvPr/>
        </p:nvSpPr>
        <p:spPr>
          <a:xfrm>
            <a:off x="4563533"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Identity &amp; custody</a:t>
            </a:r>
          </a:p>
        </p:txBody>
      </p:sp>
      <p:sp>
        <p:nvSpPr>
          <p:cNvPr id="17" name="TextBox 16"/>
          <p:cNvSpPr txBox="1"/>
          <p:nvPr/>
        </p:nvSpPr>
        <p:spPr>
          <a:xfrm>
            <a:off x="4563533"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School-specific roles. NFC</a:t>
            </a:r>
          </a:p>
          <a:p>
            <a:pPr>
              <a:lnSpc>
                <a:spcPct val="130000"/>
              </a:lnSpc>
              <a:spcBef>
                <a:spcPts val="0"/>
              </a:spcBef>
              <a:spcAft>
                <a:spcPts val="0"/>
              </a:spcAft>
              <a:defRPr sz="1600" b="0">
                <a:solidFill>
                  <a:srgbClr val="BDC6D5"/>
                </a:solidFill>
                <a:latin typeface="DejaVu Sans"/>
              </a:defRPr>
            </a:pPr>
            <a:r>
              <a:t>tags are identifiers, not</a:t>
            </a:r>
          </a:p>
          <a:p>
            <a:pPr>
              <a:lnSpc>
                <a:spcPct val="130000"/>
              </a:lnSpc>
              <a:spcBef>
                <a:spcPts val="0"/>
              </a:spcBef>
              <a:spcAft>
                <a:spcPts val="0"/>
              </a:spcAft>
              <a:defRPr sz="1600" b="0">
                <a:solidFill>
                  <a:srgbClr val="BDC6D5"/>
                </a:solidFill>
                <a:latin typeface="DejaVu Sans"/>
              </a:defRPr>
            </a:pPr>
            <a:r>
              <a:t>anti-theft devices.</a:t>
            </a:r>
          </a:p>
        </p:txBody>
      </p:sp>
      <p:sp>
        <p:nvSpPr>
          <p:cNvPr id="18" name="Rounded Rectangle 17"/>
          <p:cNvSpPr/>
          <p:nvPr/>
        </p:nvSpPr>
        <p:spPr>
          <a:xfrm>
            <a:off x="8111066" y="2425700"/>
            <a:ext cx="3572933" cy="316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5066"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03</a:t>
            </a:r>
          </a:p>
        </p:txBody>
      </p:sp>
      <p:sp>
        <p:nvSpPr>
          <p:cNvPr id="20" name="TextBox 19"/>
          <p:cNvSpPr txBox="1"/>
          <p:nvPr/>
        </p:nvSpPr>
        <p:spPr>
          <a:xfrm>
            <a:off x="8365066"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Launch readiness</a:t>
            </a:r>
          </a:p>
        </p:txBody>
      </p:sp>
      <p:sp>
        <p:nvSpPr>
          <p:cNvPr id="21" name="TextBox 20"/>
          <p:cNvSpPr txBox="1"/>
          <p:nvPr/>
        </p:nvSpPr>
        <p:spPr>
          <a:xfrm>
            <a:off x="8365066"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Validate hardware, school</a:t>
            </a:r>
          </a:p>
          <a:p>
            <a:pPr>
              <a:lnSpc>
                <a:spcPct val="130000"/>
              </a:lnSpc>
              <a:spcBef>
                <a:spcPts val="0"/>
              </a:spcBef>
              <a:spcAft>
                <a:spcPts val="0"/>
              </a:spcAft>
              <a:defRPr sz="1600" b="0">
                <a:solidFill>
                  <a:srgbClr val="BDC6D5"/>
                </a:solidFill>
                <a:latin typeface="DejaVu Sans"/>
              </a:defRPr>
            </a:pPr>
            <a:r>
              <a:t>OAuth, concurrency and</a:t>
            </a:r>
          </a:p>
          <a:p>
            <a:pPr>
              <a:lnSpc>
                <a:spcPct val="130000"/>
              </a:lnSpc>
              <a:spcBef>
                <a:spcPts val="0"/>
              </a:spcBef>
              <a:spcAft>
                <a:spcPts val="0"/>
              </a:spcAft>
              <a:defRPr sz="1600" b="0">
                <a:solidFill>
                  <a:srgbClr val="BDC6D5"/>
                </a:solidFill>
                <a:latin typeface="DejaVu Sans"/>
              </a:defRPr>
            </a:pPr>
            <a:r>
              <a:t>demo isolation.</a:t>
            </a:r>
          </a:p>
        </p:txBody>
      </p:sp>
      <p:sp>
        <p:nvSpPr>
          <p:cNvPr id="22" name="TextBox 21"/>
          <p:cNvSpPr txBox="1"/>
          <p:nvPr/>
        </p:nvSpPr>
        <p:spPr>
          <a:xfrm>
            <a:off x="533400" y="5778500"/>
            <a:ext cx="11176000" cy="356870"/>
          </a:xfrm>
          <a:prstGeom prst="rect">
            <a:avLst/>
          </a:prstGeom>
          <a:noFill/>
        </p:spPr>
        <p:txBody>
          <a:bodyPr wrap="none" lIns="0" rIns="0" tIns="0" bIns="0">
            <a:spAutoFit/>
          </a:bodyPr>
          <a:lstStyle/>
          <a:p>
            <a:pPr>
              <a:lnSpc>
                <a:spcPct val="130000"/>
              </a:lnSpc>
              <a:spcBef>
                <a:spcPts val="0"/>
              </a:spcBef>
              <a:spcAft>
                <a:spcPts val="0"/>
              </a:spcAft>
              <a:defRPr sz="1700" b="1">
                <a:solidFill>
                  <a:srgbClr val="D4F778"/>
                </a:solidFill>
                <a:latin typeface="DejaVu Sans"/>
              </a:defRPr>
            </a:pPr>
            <a:r>
              <a:t>Roadmap: push delivery, tenant isolation and stronger operational validation.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APPENDIX D / EVALUATION</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Make each claim testable.</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A proposed assessment map, since no course rubric was supplied.</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Evidence map: docs/mvp-verification.md and source references in speaker notes</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14</a:t>
            </a:r>
          </a:p>
        </p:txBody>
      </p:sp>
      <p:sp>
        <p:nvSpPr>
          <p:cNvPr id="10" name="Rounded Rectangle 9"/>
          <p:cNvSpPr/>
          <p:nvPr/>
        </p:nvSpPr>
        <p:spPr>
          <a:xfrm>
            <a:off x="508000" y="22987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425700"/>
            <a:ext cx="35052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Problem understanding</a:t>
            </a:r>
          </a:p>
        </p:txBody>
      </p:sp>
      <p:sp>
        <p:nvSpPr>
          <p:cNvPr id="12" name="TextBox 11"/>
          <p:cNvSpPr txBox="1"/>
          <p:nvPr/>
        </p:nvSpPr>
        <p:spPr>
          <a:xfrm>
            <a:off x="4330700" y="2425700"/>
            <a:ext cx="72136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User scenario + teacher interviews to collect</a:t>
            </a:r>
          </a:p>
        </p:txBody>
      </p:sp>
      <p:sp>
        <p:nvSpPr>
          <p:cNvPr id="13" name="Rounded Rectangle 12"/>
          <p:cNvSpPr/>
          <p:nvPr/>
        </p:nvSpPr>
        <p:spPr>
          <a:xfrm>
            <a:off x="508000" y="30353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162300"/>
            <a:ext cx="35052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Design &amp; implementation</a:t>
            </a:r>
          </a:p>
        </p:txBody>
      </p:sp>
      <p:sp>
        <p:nvSpPr>
          <p:cNvPr id="15" name="TextBox 14"/>
          <p:cNvSpPr txBox="1"/>
          <p:nvPr/>
        </p:nvSpPr>
        <p:spPr>
          <a:xfrm>
            <a:off x="4330700" y="3162300"/>
            <a:ext cx="72136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Journey + data flow + live end-to-end demo</a:t>
            </a:r>
          </a:p>
        </p:txBody>
      </p:sp>
      <p:sp>
        <p:nvSpPr>
          <p:cNvPr id="16" name="Rounded Rectangle 15"/>
          <p:cNvSpPr/>
          <p:nvPr/>
        </p:nvSpPr>
        <p:spPr>
          <a:xfrm>
            <a:off x="508000" y="37719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898900"/>
            <a:ext cx="35052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Testing &amp; reliability</a:t>
            </a:r>
          </a:p>
        </p:txBody>
      </p:sp>
      <p:sp>
        <p:nvSpPr>
          <p:cNvPr id="18" name="TextBox 17"/>
          <p:cNvSpPr txBox="1"/>
          <p:nvPr/>
        </p:nvSpPr>
        <p:spPr>
          <a:xfrm>
            <a:off x="4330700" y="3898900"/>
            <a:ext cx="72136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Rules/store/UI tests in repository; device checks pending</a:t>
            </a:r>
          </a:p>
        </p:txBody>
      </p:sp>
      <p:sp>
        <p:nvSpPr>
          <p:cNvPr id="19" name="Rounded Rectangle 18"/>
          <p:cNvSpPr/>
          <p:nvPr/>
        </p:nvSpPr>
        <p:spPr>
          <a:xfrm>
            <a:off x="508000" y="45085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635500"/>
            <a:ext cx="35052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Critical evaluation</a:t>
            </a:r>
          </a:p>
        </p:txBody>
      </p:sp>
      <p:sp>
        <p:nvSpPr>
          <p:cNvPr id="21" name="TextBox 20"/>
          <p:cNvSpPr txBox="1"/>
          <p:nvPr/>
        </p:nvSpPr>
        <p:spPr>
          <a:xfrm>
            <a:off x="4330700" y="4635500"/>
            <a:ext cx="72136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Constraints, alternatives and pilot acceptance criteria</a:t>
            </a:r>
          </a:p>
        </p:txBody>
      </p:sp>
      <p:sp>
        <p:nvSpPr>
          <p:cNvPr id="22" name="Rounded Rectangle 21"/>
          <p:cNvSpPr/>
          <p:nvPr/>
        </p:nvSpPr>
        <p:spPr>
          <a:xfrm>
            <a:off x="508000" y="52451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372100"/>
            <a:ext cx="35052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Communication</a:t>
            </a:r>
          </a:p>
        </p:txBody>
      </p:sp>
      <p:sp>
        <p:nvSpPr>
          <p:cNvPr id="24" name="TextBox 23"/>
          <p:cNvSpPr txBox="1"/>
          <p:nvPr/>
        </p:nvSpPr>
        <p:spPr>
          <a:xfrm>
            <a:off x="4330700" y="5372100"/>
            <a:ext cx="72136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Five-minute argument + three-minute demonstration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APPENDIX E / ALTERNATIVES</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Why this workflow instead of another log?</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Conceptual comparison; no vendor benchmarking has been performed.</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Analysis of workflow options, not verified competitor capability claims</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15</a:t>
            </a:r>
          </a:p>
        </p:txBody>
      </p:sp>
      <p:sp>
        <p:nvSpPr>
          <p:cNvPr id="10" name="Rounded Rectangle 9"/>
          <p:cNvSpPr/>
          <p:nvPr/>
        </p:nvSpPr>
        <p:spPr>
          <a:xfrm>
            <a:off x="508000" y="2425700"/>
            <a:ext cx="3572933" cy="316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01</a:t>
            </a:r>
          </a:p>
        </p:txBody>
      </p:sp>
      <p:sp>
        <p:nvSpPr>
          <p:cNvPr id="12" name="TextBox 11"/>
          <p:cNvSpPr txBox="1"/>
          <p:nvPr/>
        </p:nvSpPr>
        <p:spPr>
          <a:xfrm>
            <a:off x="762000"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Paper / sheets</a:t>
            </a:r>
          </a:p>
        </p:txBody>
      </p:sp>
      <p:sp>
        <p:nvSpPr>
          <p:cNvPr id="13" name="TextBox 12"/>
          <p:cNvSpPr txBox="1"/>
          <p:nvPr/>
        </p:nvSpPr>
        <p:spPr>
          <a:xfrm>
            <a:off x="762000"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Low setup burden. Handover</a:t>
            </a:r>
          </a:p>
          <a:p>
            <a:pPr>
              <a:lnSpc>
                <a:spcPct val="130000"/>
              </a:lnSpc>
              <a:spcBef>
                <a:spcPts val="0"/>
              </a:spcBef>
              <a:spcAft>
                <a:spcPts val="0"/>
              </a:spcAft>
              <a:defRPr sz="1600" b="0">
                <a:solidFill>
                  <a:srgbClr val="BDC6D5"/>
                </a:solidFill>
                <a:latin typeface="DejaVu Sans"/>
              </a:defRPr>
            </a:pPr>
            <a:r>
              <a:t>completeness depends on</a:t>
            </a:r>
          </a:p>
          <a:p>
            <a:pPr>
              <a:lnSpc>
                <a:spcPct val="130000"/>
              </a:lnSpc>
              <a:spcBef>
                <a:spcPts val="0"/>
              </a:spcBef>
              <a:spcAft>
                <a:spcPts val="0"/>
              </a:spcAft>
              <a:defRPr sz="1600" b="0">
                <a:solidFill>
                  <a:srgbClr val="BDC6D5"/>
                </a:solidFill>
                <a:latin typeface="DejaVu Sans"/>
              </a:defRPr>
            </a:pPr>
            <a:r>
              <a:t>process discipline.</a:t>
            </a:r>
          </a:p>
        </p:txBody>
      </p:sp>
      <p:sp>
        <p:nvSpPr>
          <p:cNvPr id="14" name="Rounded Rectangle 13"/>
          <p:cNvSpPr/>
          <p:nvPr/>
        </p:nvSpPr>
        <p:spPr>
          <a:xfrm>
            <a:off x="4309533" y="2425700"/>
            <a:ext cx="3572933" cy="316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3533"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02</a:t>
            </a:r>
          </a:p>
        </p:txBody>
      </p:sp>
      <p:sp>
        <p:nvSpPr>
          <p:cNvPr id="16" name="TextBox 15"/>
          <p:cNvSpPr txBox="1"/>
          <p:nvPr/>
        </p:nvSpPr>
        <p:spPr>
          <a:xfrm>
            <a:off x="4563533"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QR / NFC forms</a:t>
            </a:r>
          </a:p>
        </p:txBody>
      </p:sp>
      <p:sp>
        <p:nvSpPr>
          <p:cNvPr id="17" name="TextBox 16"/>
          <p:cNvSpPr txBox="1"/>
          <p:nvPr/>
        </p:nvSpPr>
        <p:spPr>
          <a:xfrm>
            <a:off x="4563533"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A credible lightweight option.</a:t>
            </a:r>
          </a:p>
          <a:p>
            <a:pPr>
              <a:lnSpc>
                <a:spcPct val="130000"/>
              </a:lnSpc>
              <a:spcBef>
                <a:spcPts val="0"/>
              </a:spcBef>
              <a:spcAft>
                <a:spcPts val="0"/>
              </a:spcAft>
              <a:defRPr sz="1600" b="0">
                <a:solidFill>
                  <a:srgbClr val="BDC6D5"/>
                </a:solidFill>
                <a:latin typeface="DejaVu Sans"/>
              </a:defRPr>
            </a:pPr>
            <a:r>
              <a:t>Compare scan reliability and</a:t>
            </a:r>
          </a:p>
          <a:p>
            <a:pPr>
              <a:lnSpc>
                <a:spcPct val="130000"/>
              </a:lnSpc>
              <a:spcBef>
                <a:spcPts val="0"/>
              </a:spcBef>
              <a:spcAft>
                <a:spcPts val="0"/>
              </a:spcAft>
              <a:defRPr sz="1600" b="0">
                <a:solidFill>
                  <a:srgbClr val="BDC6D5"/>
                </a:solidFill>
                <a:latin typeface="DejaVu Sans"/>
              </a:defRPr>
            </a:pPr>
            <a:r>
              <a:t>completion.</a:t>
            </a:r>
          </a:p>
        </p:txBody>
      </p:sp>
      <p:sp>
        <p:nvSpPr>
          <p:cNvPr id="18" name="Rounded Rectangle 17"/>
          <p:cNvSpPr/>
          <p:nvPr/>
        </p:nvSpPr>
        <p:spPr>
          <a:xfrm>
            <a:off x="8111066" y="2425700"/>
            <a:ext cx="3572933" cy="316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5066" y="26543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03</a:t>
            </a:r>
          </a:p>
        </p:txBody>
      </p:sp>
      <p:sp>
        <p:nvSpPr>
          <p:cNvPr id="20" name="TextBox 19"/>
          <p:cNvSpPr txBox="1"/>
          <p:nvPr/>
        </p:nvSpPr>
        <p:spPr>
          <a:xfrm>
            <a:off x="8365066" y="30734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Trakr focus</a:t>
            </a:r>
          </a:p>
        </p:txBody>
      </p:sp>
      <p:sp>
        <p:nvSpPr>
          <p:cNvPr id="21" name="TextBox 20"/>
          <p:cNvSpPr txBox="1"/>
          <p:nvPr/>
        </p:nvSpPr>
        <p:spPr>
          <a:xfrm>
            <a:off x="8365066" y="3937000"/>
            <a:ext cx="3115733" cy="868680"/>
          </a:xfrm>
          <a:prstGeom prst="rect">
            <a:avLst/>
          </a:prstGeom>
          <a:noFill/>
        </p:spPr>
        <p:txBody>
          <a:bodyPr wrap="none" lIns="0" rIns="0" tIns="0" bIns="0">
            <a:spAutoFit/>
          </a:bodyPr>
          <a:lstStyle/>
          <a:p>
            <a:pPr>
              <a:lnSpc>
                <a:spcPct val="130000"/>
              </a:lnSpc>
              <a:spcBef>
                <a:spcPts val="0"/>
              </a:spcBef>
              <a:spcAft>
                <a:spcPts val="0"/>
              </a:spcAft>
              <a:defRPr sz="1600" b="0">
                <a:solidFill>
                  <a:srgbClr val="BDC6D5"/>
                </a:solidFill>
                <a:latin typeface="DejaVu Sans"/>
              </a:defRPr>
            </a:pPr>
            <a:r>
              <a:t>A connected checkout,</a:t>
            </a:r>
          </a:p>
          <a:p>
            <a:pPr>
              <a:lnSpc>
                <a:spcPct val="130000"/>
              </a:lnSpc>
              <a:spcBef>
                <a:spcPts val="0"/>
              </a:spcBef>
              <a:spcAft>
                <a:spcPts val="0"/>
              </a:spcAft>
              <a:defRPr sz="1600" b="0">
                <a:solidFill>
                  <a:srgbClr val="BDC6D5"/>
                </a:solidFill>
                <a:latin typeface="DejaVu Sans"/>
              </a:defRPr>
            </a:pPr>
            <a:r>
              <a:t>condition, receipt and</a:t>
            </a:r>
          </a:p>
          <a:p>
            <a:pPr>
              <a:lnSpc>
                <a:spcPct val="130000"/>
              </a:lnSpc>
              <a:spcBef>
                <a:spcPts val="0"/>
              </a:spcBef>
              <a:spcAft>
                <a:spcPts val="0"/>
              </a:spcAft>
              <a:defRPr sz="1600" b="0">
                <a:solidFill>
                  <a:srgbClr val="BDC6D5"/>
                </a:solidFill>
                <a:latin typeface="DejaVu Sans"/>
              </a:defRPr>
            </a:pPr>
            <a:r>
              <a:t>teacher-return workflow.</a:t>
            </a:r>
          </a:p>
        </p:txBody>
      </p:sp>
      <p:sp>
        <p:nvSpPr>
          <p:cNvPr id="22" name="TextBox 21"/>
          <p:cNvSpPr txBox="1"/>
          <p:nvPr/>
        </p:nvSpPr>
        <p:spPr>
          <a:xfrm>
            <a:off x="533400" y="5778500"/>
            <a:ext cx="11176000" cy="356870"/>
          </a:xfrm>
          <a:prstGeom prst="rect">
            <a:avLst/>
          </a:prstGeom>
          <a:noFill/>
        </p:spPr>
        <p:txBody>
          <a:bodyPr wrap="none" lIns="0" rIns="0" tIns="0" bIns="0">
            <a:spAutoFit/>
          </a:bodyPr>
          <a:lstStyle/>
          <a:p>
            <a:pPr>
              <a:lnSpc>
                <a:spcPct val="130000"/>
              </a:lnSpc>
              <a:spcBef>
                <a:spcPts val="0"/>
              </a:spcBef>
              <a:spcAft>
                <a:spcPts val="0"/>
              </a:spcAft>
              <a:defRPr sz="1700" b="1">
                <a:solidFill>
                  <a:srgbClr val="D4F778"/>
                </a:solidFill>
                <a:latin typeface="DejaVu Sans"/>
              </a:defRPr>
            </a:pPr>
            <a:r>
              <a:t>Differentiation hypothesis: workflow completion, not the tag technology.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APPENDIX F / PILOT SCORECARD</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Set the decision rule before the pilot.</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Record baseline and pilot samples; report sample size and failures.</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All thresholds below are proposed pilot targets, not achieved measurements</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16</a:t>
            </a:r>
          </a:p>
        </p:txBody>
      </p:sp>
      <p:sp>
        <p:nvSpPr>
          <p:cNvPr id="10" name="Rounded Rectangle 9"/>
          <p:cNvSpPr/>
          <p:nvPr/>
        </p:nvSpPr>
        <p:spPr>
          <a:xfrm>
            <a:off x="508000" y="22987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425700"/>
            <a:ext cx="36068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Median checkout time</a:t>
            </a:r>
          </a:p>
        </p:txBody>
      </p:sp>
      <p:sp>
        <p:nvSpPr>
          <p:cNvPr id="12" name="TextBox 11"/>
          <p:cNvSpPr txBox="1"/>
          <p:nvPr/>
        </p:nvSpPr>
        <p:spPr>
          <a:xfrm>
            <a:off x="4457700" y="2425700"/>
            <a:ext cx="7035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Target: ≥30% below the observed baseline</a:t>
            </a:r>
          </a:p>
        </p:txBody>
      </p:sp>
      <p:sp>
        <p:nvSpPr>
          <p:cNvPr id="13" name="Rounded Rectangle 12"/>
          <p:cNvSpPr/>
          <p:nvPr/>
        </p:nvSpPr>
        <p:spPr>
          <a:xfrm>
            <a:off x="508000" y="30353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162300"/>
            <a:ext cx="36068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Record completeness</a:t>
            </a:r>
          </a:p>
        </p:txBody>
      </p:sp>
      <p:sp>
        <p:nvSpPr>
          <p:cNvPr id="15" name="TextBox 14"/>
          <p:cNvSpPr txBox="1"/>
          <p:nvPr/>
        </p:nvSpPr>
        <p:spPr>
          <a:xfrm>
            <a:off x="4457700" y="3162300"/>
            <a:ext cx="7035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Target: ≥95% of eligible handovers complete</a:t>
            </a:r>
          </a:p>
        </p:txBody>
      </p:sp>
      <p:sp>
        <p:nvSpPr>
          <p:cNvPr id="16" name="Rounded Rectangle 15"/>
          <p:cNvSpPr/>
          <p:nvPr/>
        </p:nvSpPr>
        <p:spPr>
          <a:xfrm>
            <a:off x="508000" y="37719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898900"/>
            <a:ext cx="36068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Student data isolation</a:t>
            </a:r>
          </a:p>
        </p:txBody>
      </p:sp>
      <p:sp>
        <p:nvSpPr>
          <p:cNvPr id="18" name="TextBox 17"/>
          <p:cNvSpPr txBox="1"/>
          <p:nvPr/>
        </p:nvSpPr>
        <p:spPr>
          <a:xfrm>
            <a:off x="4457700" y="3898900"/>
            <a:ext cx="7035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Target: 0 unauthorized reads in the test set</a:t>
            </a:r>
          </a:p>
        </p:txBody>
      </p:sp>
      <p:sp>
        <p:nvSpPr>
          <p:cNvPr id="19" name="Rounded Rectangle 18"/>
          <p:cNvSpPr/>
          <p:nvPr/>
        </p:nvSpPr>
        <p:spPr>
          <a:xfrm>
            <a:off x="508000" y="45085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635500"/>
            <a:ext cx="36068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Workflow reliability</a:t>
            </a:r>
          </a:p>
        </p:txBody>
      </p:sp>
      <p:sp>
        <p:nvSpPr>
          <p:cNvPr id="21" name="TextBox 20"/>
          <p:cNvSpPr txBox="1"/>
          <p:nvPr/>
        </p:nvSpPr>
        <p:spPr>
          <a:xfrm>
            <a:off x="4457700" y="4635500"/>
            <a:ext cx="7035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Track failed commits, duplicates and recovery</a:t>
            </a:r>
          </a:p>
        </p:txBody>
      </p:sp>
      <p:sp>
        <p:nvSpPr>
          <p:cNvPr id="22" name="Rounded Rectangle 21"/>
          <p:cNvSpPr/>
          <p:nvPr/>
        </p:nvSpPr>
        <p:spPr>
          <a:xfrm>
            <a:off x="508000" y="52451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372100"/>
            <a:ext cx="36068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Adoption &amp; follow-up</a:t>
            </a:r>
          </a:p>
        </p:txBody>
      </p:sp>
      <p:sp>
        <p:nvSpPr>
          <p:cNvPr id="24" name="TextBox 23"/>
          <p:cNvSpPr txBox="1"/>
          <p:nvPr/>
        </p:nvSpPr>
        <p:spPr>
          <a:xfrm>
            <a:off x="4457700" y="5372100"/>
            <a:ext cx="7035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F5F3ED"/>
                </a:solidFill>
                <a:latin typeface="DejaVu Sans"/>
              </a:defRPr>
            </a:pPr>
            <a:r>
              <a:t>Measure weekly use and staff minutes spent chasing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APPENDIX G / INVESTOR QUESTIONS</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Prove willingness to pay before scaling.</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Early business exploration; there is no validated revenue forecast.</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Illustrative arithmetic only • source license: LICENSE (CC BY-NC 4.0)</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17</a:t>
            </a:r>
          </a:p>
        </p:txBody>
      </p:sp>
      <p:sp>
        <p:nvSpPr>
          <p:cNvPr id="10" name="TextBox 9"/>
          <p:cNvSpPr txBox="1"/>
          <p:nvPr/>
        </p:nvSpPr>
        <p:spPr>
          <a:xfrm>
            <a:off x="571500" y="2413000"/>
            <a:ext cx="11099800" cy="588010"/>
          </a:xfrm>
          <a:prstGeom prst="rect">
            <a:avLst/>
          </a:prstGeom>
          <a:noFill/>
        </p:spPr>
        <p:txBody>
          <a:bodyPr wrap="none" lIns="0" rIns="0" tIns="0" bIns="0">
            <a:spAutoFit/>
          </a:bodyPr>
          <a:lstStyle/>
          <a:p>
            <a:pPr>
              <a:lnSpc>
                <a:spcPct val="130000"/>
              </a:lnSpc>
              <a:spcBef>
                <a:spcPts val="0"/>
              </a:spcBef>
              <a:spcAft>
                <a:spcPts val="0"/>
              </a:spcAft>
              <a:defRPr sz="3100" b="1">
                <a:solidFill>
                  <a:srgbClr val="D4F778"/>
                </a:solidFill>
                <a:latin typeface="DejaVu Sans"/>
              </a:defRPr>
            </a:pPr>
            <a:r>
              <a:t>2 hours × S$30 × 40 weeks = S$2,400</a:t>
            </a:r>
          </a:p>
        </p:txBody>
      </p:sp>
      <p:sp>
        <p:nvSpPr>
          <p:cNvPr id="11" name="TextBox 10"/>
          <p:cNvSpPr txBox="1"/>
          <p:nvPr/>
        </p:nvSpPr>
        <p:spPr>
          <a:xfrm>
            <a:off x="571500" y="3149600"/>
            <a:ext cx="10845800" cy="356870"/>
          </a:xfrm>
          <a:prstGeom prst="rect">
            <a:avLst/>
          </a:prstGeom>
          <a:noFill/>
        </p:spPr>
        <p:txBody>
          <a:bodyPr wrap="none" lIns="0" rIns="0" tIns="0" bIns="0">
            <a:spAutoFit/>
          </a:bodyPr>
          <a:lstStyle/>
          <a:p>
            <a:pPr>
              <a:lnSpc>
                <a:spcPct val="130000"/>
              </a:lnSpc>
              <a:spcBef>
                <a:spcPts val="0"/>
              </a:spcBef>
              <a:spcAft>
                <a:spcPts val="0"/>
              </a:spcAft>
              <a:defRPr sz="1700" b="0">
                <a:solidFill>
                  <a:srgbClr val="BDC6D5"/>
                </a:solidFill>
                <a:latin typeface="DejaVu Sans"/>
              </a:defRPr>
            </a:pPr>
            <a:r>
              <a:t>Illustrative annual time value per school — not measured savings or revenue.</a:t>
            </a:r>
          </a:p>
        </p:txBody>
      </p:sp>
      <p:sp>
        <p:nvSpPr>
          <p:cNvPr id="12" name="Rounded Rectangle 11"/>
          <p:cNvSpPr/>
          <p:nvPr/>
        </p:nvSpPr>
        <p:spPr>
          <a:xfrm>
            <a:off x="508000" y="3873500"/>
            <a:ext cx="3572933" cy="22098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41021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01</a:t>
            </a:r>
          </a:p>
        </p:txBody>
      </p:sp>
      <p:sp>
        <p:nvSpPr>
          <p:cNvPr id="14" name="TextBox 13"/>
          <p:cNvSpPr txBox="1"/>
          <p:nvPr/>
        </p:nvSpPr>
        <p:spPr>
          <a:xfrm>
            <a:off x="762000" y="45212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Discover</a:t>
            </a:r>
          </a:p>
        </p:txBody>
      </p:sp>
      <p:sp>
        <p:nvSpPr>
          <p:cNvPr id="15" name="TextBox 14"/>
          <p:cNvSpPr txBox="1"/>
          <p:nvPr/>
        </p:nvSpPr>
        <p:spPr>
          <a:xfrm>
            <a:off x="762000" y="5118100"/>
            <a:ext cx="3115733"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Who owns the budget? What</a:t>
            </a:r>
          </a:p>
          <a:p>
            <a:pPr>
              <a:lnSpc>
                <a:spcPct val="130000"/>
              </a:lnSpc>
              <a:spcBef>
                <a:spcPts val="0"/>
              </a:spcBef>
              <a:spcAft>
                <a:spcPts val="0"/>
              </a:spcAft>
              <a:defRPr sz="1500" b="0">
                <a:solidFill>
                  <a:srgbClr val="BDC6D5"/>
                </a:solidFill>
                <a:latin typeface="DejaVu Sans"/>
              </a:defRPr>
            </a:pPr>
            <a:r>
              <a:t>evidence unlocks a purchase?</a:t>
            </a:r>
          </a:p>
        </p:txBody>
      </p:sp>
      <p:sp>
        <p:nvSpPr>
          <p:cNvPr id="16" name="Rounded Rectangle 15"/>
          <p:cNvSpPr/>
          <p:nvPr/>
        </p:nvSpPr>
        <p:spPr>
          <a:xfrm>
            <a:off x="4309533" y="3873500"/>
            <a:ext cx="3572933" cy="22098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3533" y="41021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02</a:t>
            </a:r>
          </a:p>
        </p:txBody>
      </p:sp>
      <p:sp>
        <p:nvSpPr>
          <p:cNvPr id="18" name="TextBox 17"/>
          <p:cNvSpPr txBox="1"/>
          <p:nvPr/>
        </p:nvSpPr>
        <p:spPr>
          <a:xfrm>
            <a:off x="4563533" y="45212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Cost</a:t>
            </a:r>
          </a:p>
        </p:txBody>
      </p:sp>
      <p:sp>
        <p:nvSpPr>
          <p:cNvPr id="19" name="TextBox 18"/>
          <p:cNvSpPr txBox="1"/>
          <p:nvPr/>
        </p:nvSpPr>
        <p:spPr>
          <a:xfrm>
            <a:off x="4563533" y="5118100"/>
            <a:ext cx="3115733" cy="57150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Tags, setup, hosting, support</a:t>
            </a:r>
          </a:p>
          <a:p>
            <a:pPr>
              <a:lnSpc>
                <a:spcPct val="130000"/>
              </a:lnSpc>
              <a:spcBef>
                <a:spcPts val="0"/>
              </a:spcBef>
              <a:spcAft>
                <a:spcPts val="0"/>
              </a:spcAft>
              <a:defRPr sz="1500" b="0">
                <a:solidFill>
                  <a:srgbClr val="BDC6D5"/>
                </a:solidFill>
                <a:latin typeface="DejaVu Sans"/>
              </a:defRPr>
            </a:pPr>
            <a:r>
              <a:t>and acquisition all count.</a:t>
            </a:r>
          </a:p>
        </p:txBody>
      </p:sp>
      <p:sp>
        <p:nvSpPr>
          <p:cNvPr id="20" name="Rounded Rectangle 19"/>
          <p:cNvSpPr/>
          <p:nvPr/>
        </p:nvSpPr>
        <p:spPr>
          <a:xfrm>
            <a:off x="8111066" y="3873500"/>
            <a:ext cx="3572933" cy="22098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5066" y="4102100"/>
            <a:ext cx="3115733"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03</a:t>
            </a:r>
          </a:p>
        </p:txBody>
      </p:sp>
      <p:sp>
        <p:nvSpPr>
          <p:cNvPr id="22" name="TextBox 21"/>
          <p:cNvSpPr txBox="1"/>
          <p:nvPr/>
        </p:nvSpPr>
        <p:spPr>
          <a:xfrm>
            <a:off x="8365066" y="4521200"/>
            <a:ext cx="3115733" cy="455930"/>
          </a:xfrm>
          <a:prstGeom prst="rect">
            <a:avLst/>
          </a:prstGeom>
          <a:noFill/>
        </p:spPr>
        <p:txBody>
          <a:bodyPr wrap="none" lIns="0" rIns="0" tIns="0" bIns="0">
            <a:spAutoFit/>
          </a:bodyPr>
          <a:lstStyle/>
          <a:p>
            <a:pPr>
              <a:lnSpc>
                <a:spcPct val="130000"/>
              </a:lnSpc>
              <a:spcBef>
                <a:spcPts val="0"/>
              </a:spcBef>
              <a:spcAft>
                <a:spcPts val="0"/>
              </a:spcAft>
              <a:defRPr sz="2300" b="1">
                <a:solidFill>
                  <a:srgbClr val="F5F3ED"/>
                </a:solidFill>
                <a:latin typeface="DejaVu Sans"/>
              </a:defRPr>
            </a:pPr>
            <a:r>
              <a:t>Gate expansion</a:t>
            </a:r>
          </a:p>
        </p:txBody>
      </p:sp>
      <p:sp>
        <p:nvSpPr>
          <p:cNvPr id="23" name="TextBox 22"/>
          <p:cNvSpPr txBox="1"/>
          <p:nvPr/>
        </p:nvSpPr>
        <p:spPr>
          <a:xfrm>
            <a:off x="8365066" y="5118100"/>
            <a:ext cx="3115733" cy="8191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Paid conversion, retention,</a:t>
            </a:r>
          </a:p>
          <a:p>
            <a:pPr>
              <a:lnSpc>
                <a:spcPct val="130000"/>
              </a:lnSpc>
              <a:spcBef>
                <a:spcPts val="0"/>
              </a:spcBef>
              <a:spcAft>
                <a:spcPts val="0"/>
              </a:spcAft>
              <a:defRPr sz="1500" b="0">
                <a:solidFill>
                  <a:srgbClr val="BDC6D5"/>
                </a:solidFill>
                <a:latin typeface="DejaVu Sans"/>
              </a:defRPr>
            </a:pPr>
            <a:r>
              <a:t>tenant isolation and</a:t>
            </a:r>
          </a:p>
          <a:p>
            <a:pPr>
              <a:lnSpc>
                <a:spcPct val="130000"/>
              </a:lnSpc>
              <a:spcBef>
                <a:spcPts val="0"/>
              </a:spcBef>
              <a:spcAft>
                <a:spcPts val="0"/>
              </a:spcAft>
              <a:defRPr sz="1500" b="0">
                <a:solidFill>
                  <a:srgbClr val="BDC6D5"/>
                </a:solidFill>
                <a:latin typeface="DejaVu Sans"/>
              </a:defRPr>
            </a:pPr>
            <a:r>
              <a:t>commercial rights.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8000" y="431800"/>
            <a:ext cx="330200" cy="63500"/>
          </a:xfrm>
          <a:prstGeom prst="rect">
            <a:avLst/>
          </a:prstGeom>
          <a:solidFill>
            <a:srgbClr val="D4F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0600" y="317500"/>
            <a:ext cx="9956800" cy="257810"/>
          </a:xfrm>
          <a:prstGeom prst="rect">
            <a:avLst/>
          </a:prstGeom>
          <a:noFill/>
        </p:spPr>
        <p:txBody>
          <a:bodyPr wrap="none" lIns="0" rIns="0" tIns="0" bIns="0">
            <a:spAutoFit/>
          </a:bodyPr>
          <a:lstStyle/>
          <a:p>
            <a:pPr>
              <a:lnSpc>
                <a:spcPct val="130000"/>
              </a:lnSpc>
              <a:spcBef>
                <a:spcPts val="0"/>
              </a:spcBef>
              <a:spcAft>
                <a:spcPts val="0"/>
              </a:spcAft>
              <a:defRPr sz="1100" b="1">
                <a:solidFill>
                  <a:srgbClr val="D4F778"/>
                </a:solidFill>
                <a:latin typeface="DejaVu Sans"/>
              </a:defRPr>
            </a:pPr>
            <a:r>
              <a:t>APPENDIX H / EVIDENCE &amp; NEXT STEPS</a:t>
            </a:r>
          </a:p>
        </p:txBody>
      </p:sp>
      <p:sp>
        <p:nvSpPr>
          <p:cNvPr id="5" name="TextBox 4"/>
          <p:cNvSpPr txBox="1"/>
          <p:nvPr/>
        </p:nvSpPr>
        <p:spPr>
          <a:xfrm>
            <a:off x="508000" y="838200"/>
            <a:ext cx="11163300" cy="637540"/>
          </a:xfrm>
          <a:prstGeom prst="rect">
            <a:avLst/>
          </a:prstGeom>
          <a:noFill/>
        </p:spPr>
        <p:txBody>
          <a:bodyPr wrap="none" lIns="0" rIns="0" tIns="0" bIns="0">
            <a:spAutoFit/>
          </a:bodyPr>
          <a:lstStyle/>
          <a:p>
            <a:pPr>
              <a:lnSpc>
                <a:spcPct val="130000"/>
              </a:lnSpc>
              <a:spcBef>
                <a:spcPts val="0"/>
              </a:spcBef>
              <a:spcAft>
                <a:spcPts val="0"/>
              </a:spcAft>
              <a:defRPr sz="3400" b="1">
                <a:solidFill>
                  <a:srgbClr val="F5F3ED"/>
                </a:solidFill>
                <a:latin typeface="DejaVu Sans"/>
              </a:defRPr>
            </a:pPr>
            <a:r>
              <a:t>A pitch grounded in the repository.</a:t>
            </a:r>
          </a:p>
        </p:txBody>
      </p:sp>
      <p:sp>
        <p:nvSpPr>
          <p:cNvPr id="6" name="TextBox 5"/>
          <p:cNvSpPr txBox="1"/>
          <p:nvPr/>
        </p:nvSpPr>
        <p:spPr>
          <a:xfrm>
            <a:off x="508000" y="1562100"/>
            <a:ext cx="11099800" cy="323850"/>
          </a:xfrm>
          <a:prstGeom prst="rect">
            <a:avLst/>
          </a:prstGeom>
          <a:noFill/>
        </p:spPr>
        <p:txBody>
          <a:bodyPr wrap="none" lIns="0" rIns="0" tIns="0" bIns="0">
            <a:spAutoFit/>
          </a:bodyPr>
          <a:lstStyle/>
          <a:p>
            <a:pPr>
              <a:lnSpc>
                <a:spcPct val="130000"/>
              </a:lnSpc>
              <a:spcBef>
                <a:spcPts val="0"/>
              </a:spcBef>
              <a:spcAft>
                <a:spcPts val="0"/>
              </a:spcAft>
              <a:defRPr sz="1500" b="0">
                <a:solidFill>
                  <a:srgbClr val="BDC6D5"/>
                </a:solidFill>
                <a:latin typeface="DejaVu Sans"/>
              </a:defRPr>
            </a:pPr>
            <a:r>
              <a:t>Implementation evidence is not the same as field validation.</a:t>
            </a:r>
          </a:p>
        </p:txBody>
      </p:sp>
      <p:sp>
        <p:nvSpPr>
          <p:cNvPr id="7" name="Rectangle 6"/>
          <p:cNvSpPr/>
          <p:nvPr/>
        </p:nvSpPr>
        <p:spPr>
          <a:xfrm>
            <a:off x="508000" y="6362700"/>
            <a:ext cx="11176000" cy="12700"/>
          </a:xfrm>
          <a:prstGeom prst="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8000" y="6515100"/>
            <a:ext cx="10274300" cy="208279"/>
          </a:xfrm>
          <a:prstGeom prst="rect">
            <a:avLst/>
          </a:prstGeom>
          <a:noFill/>
        </p:spPr>
        <p:txBody>
          <a:bodyPr wrap="none" lIns="0" rIns="0" tIns="0" bIns="0">
            <a:spAutoFit/>
          </a:bodyPr>
          <a:lstStyle/>
          <a:p>
            <a:pPr>
              <a:lnSpc>
                <a:spcPct val="130000"/>
              </a:lnSpc>
              <a:spcBef>
                <a:spcPts val="0"/>
              </a:spcBef>
              <a:spcAft>
                <a:spcPts val="0"/>
              </a:spcAft>
              <a:defRPr sz="800" b="0">
                <a:solidFill>
                  <a:srgbClr val="BDC6D5"/>
                </a:solidFill>
                <a:latin typeface="DejaVu Sans"/>
              </a:defRPr>
            </a:pPr>
            <a:r>
              <a:t>Repository snapshot: 6467a41 • presentation prepared 21 September 2026</a:t>
            </a:r>
          </a:p>
        </p:txBody>
      </p:sp>
      <p:sp>
        <p:nvSpPr>
          <p:cNvPr id="9" name="TextBox 8"/>
          <p:cNvSpPr txBox="1"/>
          <p:nvPr/>
        </p:nvSpPr>
        <p:spPr>
          <a:xfrm>
            <a:off x="11112500" y="6477000"/>
            <a:ext cx="812800" cy="274320"/>
          </a:xfrm>
          <a:prstGeom prst="rect">
            <a:avLst/>
          </a:prstGeom>
          <a:noFill/>
        </p:spPr>
        <p:txBody>
          <a:bodyPr wrap="none" lIns="0" rIns="0" tIns="0" bIns="0">
            <a:spAutoFit/>
          </a:bodyPr>
          <a:lstStyle/>
          <a:p>
            <a:pPr>
              <a:lnSpc>
                <a:spcPct val="130000"/>
              </a:lnSpc>
              <a:spcBef>
                <a:spcPts val="0"/>
              </a:spcBef>
              <a:spcAft>
                <a:spcPts val="0"/>
              </a:spcAft>
              <a:defRPr sz="1200" b="1">
                <a:solidFill>
                  <a:srgbClr val="D4F778"/>
                </a:solidFill>
                <a:latin typeface="DejaVu Sans"/>
              </a:defRPr>
            </a:pPr>
            <a:r>
              <a:t>18</a:t>
            </a:r>
          </a:p>
        </p:txBody>
      </p:sp>
      <p:sp>
        <p:nvSpPr>
          <p:cNvPr id="10" name="Rounded Rectangle 9"/>
          <p:cNvSpPr/>
          <p:nvPr/>
        </p:nvSpPr>
        <p:spPr>
          <a:xfrm>
            <a:off x="508000" y="22987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425700"/>
            <a:ext cx="30988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Product scope</a:t>
            </a:r>
          </a:p>
        </p:txBody>
      </p:sp>
      <p:sp>
        <p:nvSpPr>
          <p:cNvPr id="12" name="TextBox 11"/>
          <p:cNvSpPr txBox="1"/>
          <p:nvPr/>
        </p:nvSpPr>
        <p:spPr>
          <a:xfrm>
            <a:off x="3860800" y="2425700"/>
            <a:ext cx="7632700" cy="307340"/>
          </a:xfrm>
          <a:prstGeom prst="rect">
            <a:avLst/>
          </a:prstGeom>
          <a:noFill/>
        </p:spPr>
        <p:txBody>
          <a:bodyPr wrap="none" lIns="0" rIns="0" tIns="0" bIns="0">
            <a:spAutoFit/>
          </a:bodyPr>
          <a:lstStyle/>
          <a:p>
            <a:pPr>
              <a:lnSpc>
                <a:spcPct val="130000"/>
              </a:lnSpc>
              <a:spcBef>
                <a:spcPts val="0"/>
              </a:spcBef>
              <a:spcAft>
                <a:spcPts val="0"/>
              </a:spcAft>
              <a:defRPr sz="1400" b="0">
                <a:solidFill>
                  <a:srgbClr val="F5F3ED"/>
                </a:solidFill>
                <a:latin typeface="DejaVu Sans"/>
              </a:defRPr>
            </a:pPr>
            <a:r>
              <a:t>README.md · docs/production-integration.md</a:t>
            </a:r>
          </a:p>
        </p:txBody>
      </p:sp>
      <p:sp>
        <p:nvSpPr>
          <p:cNvPr id="13" name="Rounded Rectangle 12"/>
          <p:cNvSpPr/>
          <p:nvPr/>
        </p:nvSpPr>
        <p:spPr>
          <a:xfrm>
            <a:off x="508000" y="30353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162300"/>
            <a:ext cx="30988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Data &amp; mutation flow</a:t>
            </a:r>
          </a:p>
        </p:txBody>
      </p:sp>
      <p:sp>
        <p:nvSpPr>
          <p:cNvPr id="15" name="TextBox 14"/>
          <p:cNvSpPr txBox="1"/>
          <p:nvPr/>
        </p:nvSpPr>
        <p:spPr>
          <a:xfrm>
            <a:off x="3860800" y="3162300"/>
            <a:ext cx="7632700" cy="307340"/>
          </a:xfrm>
          <a:prstGeom prst="rect">
            <a:avLst/>
          </a:prstGeom>
          <a:noFill/>
        </p:spPr>
        <p:txBody>
          <a:bodyPr wrap="none" lIns="0" rIns="0" tIns="0" bIns="0">
            <a:spAutoFit/>
          </a:bodyPr>
          <a:lstStyle/>
          <a:p>
            <a:pPr>
              <a:lnSpc>
                <a:spcPct val="130000"/>
              </a:lnSpc>
              <a:spcBef>
                <a:spcPts val="0"/>
              </a:spcBef>
              <a:spcAft>
                <a:spcPts val="0"/>
              </a:spcAft>
              <a:defRPr sz="1400" b="0">
                <a:solidFill>
                  <a:srgbClr val="F5F3ED"/>
                </a:solidFill>
                <a:latin typeface="DejaVu Sans"/>
              </a:defRPr>
            </a:pPr>
            <a:r>
              <a:t>Trakr/Models/Domain.swift · Services/FirebaseGateway.swift</a:t>
            </a:r>
          </a:p>
        </p:txBody>
      </p:sp>
      <p:sp>
        <p:nvSpPr>
          <p:cNvPr id="16" name="Rounded Rectangle 15"/>
          <p:cNvSpPr/>
          <p:nvPr/>
        </p:nvSpPr>
        <p:spPr>
          <a:xfrm>
            <a:off x="508000" y="37719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898900"/>
            <a:ext cx="30988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Security &amp; operations</a:t>
            </a:r>
          </a:p>
        </p:txBody>
      </p:sp>
      <p:sp>
        <p:nvSpPr>
          <p:cNvPr id="18" name="TextBox 17"/>
          <p:cNvSpPr txBox="1"/>
          <p:nvPr/>
        </p:nvSpPr>
        <p:spPr>
          <a:xfrm>
            <a:off x="3860800" y="3898900"/>
            <a:ext cx="7632700" cy="307340"/>
          </a:xfrm>
          <a:prstGeom prst="rect">
            <a:avLst/>
          </a:prstGeom>
          <a:noFill/>
        </p:spPr>
        <p:txBody>
          <a:bodyPr wrap="none" lIns="0" rIns="0" tIns="0" bIns="0">
            <a:spAutoFit/>
          </a:bodyPr>
          <a:lstStyle/>
          <a:p>
            <a:pPr>
              <a:lnSpc>
                <a:spcPct val="130000"/>
              </a:lnSpc>
              <a:spcBef>
                <a:spcPts val="0"/>
              </a:spcBef>
              <a:spcAft>
                <a:spcPts val="0"/>
              </a:spcAft>
              <a:defRPr sz="1400" b="0">
                <a:solidFill>
                  <a:srgbClr val="F5F3ED"/>
                </a:solidFill>
                <a:latin typeface="DejaVu Sans"/>
              </a:defRPr>
            </a:pPr>
            <a:r>
              <a:t>firebase/firestore.rules · dashboard/README.md</a:t>
            </a:r>
          </a:p>
        </p:txBody>
      </p:sp>
      <p:sp>
        <p:nvSpPr>
          <p:cNvPr id="19" name="Rounded Rectangle 18"/>
          <p:cNvSpPr/>
          <p:nvPr/>
        </p:nvSpPr>
        <p:spPr>
          <a:xfrm>
            <a:off x="508000" y="45085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635500"/>
            <a:ext cx="30988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Verification coverage</a:t>
            </a:r>
          </a:p>
        </p:txBody>
      </p:sp>
      <p:sp>
        <p:nvSpPr>
          <p:cNvPr id="21" name="TextBox 20"/>
          <p:cNvSpPr txBox="1"/>
          <p:nvPr/>
        </p:nvSpPr>
        <p:spPr>
          <a:xfrm>
            <a:off x="3860800" y="4635500"/>
            <a:ext cx="7632700" cy="307340"/>
          </a:xfrm>
          <a:prstGeom prst="rect">
            <a:avLst/>
          </a:prstGeom>
          <a:noFill/>
        </p:spPr>
        <p:txBody>
          <a:bodyPr wrap="none" lIns="0" rIns="0" tIns="0" bIns="0">
            <a:spAutoFit/>
          </a:bodyPr>
          <a:lstStyle/>
          <a:p>
            <a:pPr>
              <a:lnSpc>
                <a:spcPct val="130000"/>
              </a:lnSpc>
              <a:spcBef>
                <a:spcPts val="0"/>
              </a:spcBef>
              <a:spcAft>
                <a:spcPts val="0"/>
              </a:spcAft>
              <a:defRPr sz="1400" b="0">
                <a:solidFill>
                  <a:srgbClr val="F5F3ED"/>
                </a:solidFill>
                <a:latin typeface="DejaVu Sans"/>
              </a:defRPr>
            </a:pPr>
            <a:r>
              <a:t>docs/mvp-verification.md · TrakrTests · firebase/functions/test</a:t>
            </a:r>
          </a:p>
        </p:txBody>
      </p:sp>
      <p:sp>
        <p:nvSpPr>
          <p:cNvPr id="22" name="Rounded Rectangle 21"/>
          <p:cNvSpPr/>
          <p:nvPr/>
        </p:nvSpPr>
        <p:spPr>
          <a:xfrm>
            <a:off x="508000" y="5245100"/>
            <a:ext cx="11176000" cy="62230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372100"/>
            <a:ext cx="3098800" cy="340360"/>
          </a:xfrm>
          <a:prstGeom prst="rect">
            <a:avLst/>
          </a:prstGeom>
          <a:noFill/>
        </p:spPr>
        <p:txBody>
          <a:bodyPr wrap="none" lIns="0" rIns="0" tIns="0" bIns="0">
            <a:spAutoFit/>
          </a:bodyPr>
          <a:lstStyle/>
          <a:p>
            <a:pPr>
              <a:lnSpc>
                <a:spcPct val="130000"/>
              </a:lnSpc>
              <a:spcBef>
                <a:spcPts val="0"/>
              </a:spcBef>
              <a:spcAft>
                <a:spcPts val="0"/>
              </a:spcAft>
              <a:defRPr sz="1600" b="1">
                <a:solidFill>
                  <a:srgbClr val="D4F778"/>
                </a:solidFill>
                <a:latin typeface="DejaVu Sans"/>
              </a:defRPr>
            </a:pPr>
            <a:r>
              <a:t>Next evidence</a:t>
            </a:r>
          </a:p>
        </p:txBody>
      </p:sp>
      <p:sp>
        <p:nvSpPr>
          <p:cNvPr id="24" name="TextBox 23"/>
          <p:cNvSpPr txBox="1"/>
          <p:nvPr/>
        </p:nvSpPr>
        <p:spPr>
          <a:xfrm>
            <a:off x="3860800" y="5372100"/>
            <a:ext cx="7632700" cy="307340"/>
          </a:xfrm>
          <a:prstGeom prst="rect">
            <a:avLst/>
          </a:prstGeom>
          <a:noFill/>
        </p:spPr>
        <p:txBody>
          <a:bodyPr wrap="none" lIns="0" rIns="0" tIns="0" bIns="0">
            <a:spAutoFit/>
          </a:bodyPr>
          <a:lstStyle/>
          <a:p>
            <a:pPr>
              <a:lnSpc>
                <a:spcPct val="130000"/>
              </a:lnSpc>
              <a:spcBef>
                <a:spcPts val="0"/>
              </a:spcBef>
              <a:spcAft>
                <a:spcPts val="0"/>
              </a:spcAft>
              <a:defRPr sz="1400" b="0">
                <a:solidFill>
                  <a:srgbClr val="F5F3ED"/>
                </a:solidFill>
                <a:latin typeface="DejaVu Sans"/>
              </a:defRPr>
            </a:pPr>
            <a:r>
              <a:t>Teacher interviews · device results · pilot data · buyer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Trakr | Equipment accountability, one tap at a time</dc:title>
  <dc:subject/>
  <dc:creator>Edmund Lim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